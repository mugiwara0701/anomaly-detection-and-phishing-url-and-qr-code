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82" r:id="rId2"/>
    <p:sldId id="268" r:id="rId3"/>
    <p:sldId id="267" r:id="rId4"/>
    <p:sldId id="257" r:id="rId5"/>
    <p:sldId id="280" r:id="rId6"/>
    <p:sldId id="281" r:id="rId7"/>
    <p:sldId id="269" r:id="rId8"/>
    <p:sldId id="260" r:id="rId9"/>
    <p:sldId id="270" r:id="rId10"/>
    <p:sldId id="261" r:id="rId11"/>
    <p:sldId id="271" r:id="rId12"/>
    <p:sldId id="264" r:id="rId13"/>
    <p:sldId id="272" r:id="rId14"/>
    <p:sldId id="275" r:id="rId15"/>
    <p:sldId id="273" r:id="rId16"/>
    <p:sldId id="274" r:id="rId17"/>
    <p:sldId id="276" r:id="rId18"/>
    <p:sldId id="263" r:id="rId19"/>
    <p:sldId id="265" r:id="rId20"/>
    <p:sldId id="266" r:id="rId21"/>
    <p:sldId id="277"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626952-31CF-4302-A2EA-39526B05C3A9}" type="doc">
      <dgm:prSet loTypeId="urn:microsoft.com/office/officeart/2018/2/layout/IconVerticalSolidList" loCatId="icon" qsTypeId="urn:microsoft.com/office/officeart/2005/8/quickstyle/simple1" qsCatId="simple" csTypeId="urn:microsoft.com/office/officeart/2005/8/colors/accent4_2" csCatId="accent4" phldr="1"/>
      <dgm:spPr/>
      <dgm:t>
        <a:bodyPr/>
        <a:lstStyle/>
        <a:p>
          <a:endParaRPr lang="en-US"/>
        </a:p>
      </dgm:t>
    </dgm:pt>
    <dgm:pt modelId="{31E74BC8-6B21-428F-A894-603A1C2829B2}">
      <dgm:prSet/>
      <dgm:spPr/>
      <dgm:t>
        <a:bodyPr/>
        <a:lstStyle/>
        <a:p>
          <a:pPr>
            <a:lnSpc>
              <a:spcPct val="100000"/>
            </a:lnSpc>
          </a:pPr>
          <a:r>
            <a:rPr lang="en-US" dirty="0">
              <a:latin typeface="Times New Roman" panose="02020603050405020304" pitchFamily="18" charset="0"/>
              <a:cs typeface="Times New Roman" panose="02020603050405020304" pitchFamily="18" charset="0"/>
            </a:rPr>
            <a:t>QR codes and short URLs often evade detection.</a:t>
          </a:r>
        </a:p>
      </dgm:t>
    </dgm:pt>
    <dgm:pt modelId="{1F6ABF61-F88A-494C-911A-79CAE3429EE1}" type="parTrans" cxnId="{1533DB67-9920-4701-A052-E848AD179C0C}">
      <dgm:prSet/>
      <dgm:spPr/>
      <dgm:t>
        <a:bodyPr/>
        <a:lstStyle/>
        <a:p>
          <a:endParaRPr lang="en-US"/>
        </a:p>
      </dgm:t>
    </dgm:pt>
    <dgm:pt modelId="{806569B2-D46F-4573-8F70-9E995C8821AA}" type="sibTrans" cxnId="{1533DB67-9920-4701-A052-E848AD179C0C}">
      <dgm:prSet/>
      <dgm:spPr/>
      <dgm:t>
        <a:bodyPr/>
        <a:lstStyle/>
        <a:p>
          <a:endParaRPr lang="en-US"/>
        </a:p>
      </dgm:t>
    </dgm:pt>
    <dgm:pt modelId="{4D310A30-02E6-4112-A373-8BCF576A693A}">
      <dgm:prSet/>
      <dgm:spPr/>
      <dgm:t>
        <a:bodyPr/>
        <a:lstStyle/>
        <a:p>
          <a:pPr>
            <a:lnSpc>
              <a:spcPct val="100000"/>
            </a:lnSpc>
          </a:pPr>
          <a:r>
            <a:rPr lang="en-US" dirty="0">
              <a:latin typeface="Times New Roman" panose="02020603050405020304" pitchFamily="18" charset="0"/>
              <a:cs typeface="Times New Roman" panose="02020603050405020304" pitchFamily="18" charset="0"/>
            </a:rPr>
            <a:t>Need for real-time, intelligent security systems.</a:t>
          </a:r>
        </a:p>
      </dgm:t>
    </dgm:pt>
    <dgm:pt modelId="{038EAD46-1D67-4312-81A1-449A82E65AAE}" type="parTrans" cxnId="{B73860D9-B9A9-4179-8707-A52623E07552}">
      <dgm:prSet/>
      <dgm:spPr/>
      <dgm:t>
        <a:bodyPr/>
        <a:lstStyle/>
        <a:p>
          <a:endParaRPr lang="en-US"/>
        </a:p>
      </dgm:t>
    </dgm:pt>
    <dgm:pt modelId="{02627E25-4092-4D40-819D-54C70A2FE8CD}" type="sibTrans" cxnId="{B73860D9-B9A9-4179-8707-A52623E07552}">
      <dgm:prSet/>
      <dgm:spPr/>
      <dgm:t>
        <a:bodyPr/>
        <a:lstStyle/>
        <a:p>
          <a:endParaRPr lang="en-US"/>
        </a:p>
      </dgm:t>
    </dgm:pt>
    <dgm:pt modelId="{826BB224-DCCF-4C5E-B40B-94CF159EB354}" type="pres">
      <dgm:prSet presAssocID="{23626952-31CF-4302-A2EA-39526B05C3A9}" presName="root" presStyleCnt="0">
        <dgm:presLayoutVars>
          <dgm:dir/>
          <dgm:resizeHandles val="exact"/>
        </dgm:presLayoutVars>
      </dgm:prSet>
      <dgm:spPr/>
    </dgm:pt>
    <dgm:pt modelId="{51E897C5-1929-4938-B313-76F424E6C060}" type="pres">
      <dgm:prSet presAssocID="{31E74BC8-6B21-428F-A894-603A1C2829B2}" presName="compNode" presStyleCnt="0"/>
      <dgm:spPr/>
    </dgm:pt>
    <dgm:pt modelId="{C06CE704-83A9-4FD2-AD36-8A5B60C46095}" type="pres">
      <dgm:prSet presAssocID="{31E74BC8-6B21-428F-A894-603A1C2829B2}" presName="bgRect" presStyleLbl="bgShp" presStyleIdx="0" presStyleCnt="2"/>
      <dgm:spPr/>
    </dgm:pt>
    <dgm:pt modelId="{DF954377-4806-40A3-85CE-F55EDF5FC9B3}" type="pres">
      <dgm:prSet presAssocID="{31E74BC8-6B21-428F-A894-603A1C2829B2}" presName="iconRect" presStyleLbl="node1" presStyleIdx="0" presStyleCnt="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Qr Code with solid fill"/>
        </a:ext>
      </dgm:extLst>
    </dgm:pt>
    <dgm:pt modelId="{2A958640-17C9-4012-81E1-3E1BE373A497}" type="pres">
      <dgm:prSet presAssocID="{31E74BC8-6B21-428F-A894-603A1C2829B2}" presName="spaceRect" presStyleCnt="0"/>
      <dgm:spPr/>
    </dgm:pt>
    <dgm:pt modelId="{09B58AD9-1305-4484-A79C-014DFE018E74}" type="pres">
      <dgm:prSet presAssocID="{31E74BC8-6B21-428F-A894-603A1C2829B2}" presName="parTx" presStyleLbl="revTx" presStyleIdx="0" presStyleCnt="2">
        <dgm:presLayoutVars>
          <dgm:chMax val="0"/>
          <dgm:chPref val="0"/>
        </dgm:presLayoutVars>
      </dgm:prSet>
      <dgm:spPr/>
    </dgm:pt>
    <dgm:pt modelId="{E165CE66-E68B-446F-9238-30600E769B74}" type="pres">
      <dgm:prSet presAssocID="{806569B2-D46F-4573-8F70-9E995C8821AA}" presName="sibTrans" presStyleCnt="0"/>
      <dgm:spPr/>
    </dgm:pt>
    <dgm:pt modelId="{ADD328A9-8B2E-4C21-BD67-705C54F71610}" type="pres">
      <dgm:prSet presAssocID="{4D310A30-02E6-4112-A373-8BCF576A693A}" presName="compNode" presStyleCnt="0"/>
      <dgm:spPr/>
    </dgm:pt>
    <dgm:pt modelId="{0B3D8726-B27B-4287-AFED-F91EBDB4BECB}" type="pres">
      <dgm:prSet presAssocID="{4D310A30-02E6-4112-A373-8BCF576A693A}" presName="bgRect" presStyleLbl="bgShp" presStyleIdx="1" presStyleCnt="2"/>
      <dgm:spPr/>
    </dgm:pt>
    <dgm:pt modelId="{33255A11-5C51-4CD2-BB5D-1A5FD8362D2E}" type="pres">
      <dgm:prSet presAssocID="{4D310A30-02E6-4112-A373-8BCF576A693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grammer"/>
        </a:ext>
      </dgm:extLst>
    </dgm:pt>
    <dgm:pt modelId="{0F6763B1-AB02-4B54-A490-A73DDC0B1BCB}" type="pres">
      <dgm:prSet presAssocID="{4D310A30-02E6-4112-A373-8BCF576A693A}" presName="spaceRect" presStyleCnt="0"/>
      <dgm:spPr/>
    </dgm:pt>
    <dgm:pt modelId="{5FA1BDBE-5501-4199-87A3-C6C8BB16E0DB}" type="pres">
      <dgm:prSet presAssocID="{4D310A30-02E6-4112-A373-8BCF576A693A}" presName="parTx" presStyleLbl="revTx" presStyleIdx="1" presStyleCnt="2">
        <dgm:presLayoutVars>
          <dgm:chMax val="0"/>
          <dgm:chPref val="0"/>
        </dgm:presLayoutVars>
      </dgm:prSet>
      <dgm:spPr/>
    </dgm:pt>
  </dgm:ptLst>
  <dgm:cxnLst>
    <dgm:cxn modelId="{40A1CB2F-50B2-452E-B3B2-12B3838E3DFC}" type="presOf" srcId="{4D310A30-02E6-4112-A373-8BCF576A693A}" destId="{5FA1BDBE-5501-4199-87A3-C6C8BB16E0DB}" srcOrd="0" destOrd="0" presId="urn:microsoft.com/office/officeart/2018/2/layout/IconVerticalSolidList"/>
    <dgm:cxn modelId="{91CF4C31-BFEA-41C7-8932-6183B6A61D8D}" type="presOf" srcId="{31E74BC8-6B21-428F-A894-603A1C2829B2}" destId="{09B58AD9-1305-4484-A79C-014DFE018E74}" srcOrd="0" destOrd="0" presId="urn:microsoft.com/office/officeart/2018/2/layout/IconVerticalSolidList"/>
    <dgm:cxn modelId="{1533DB67-9920-4701-A052-E848AD179C0C}" srcId="{23626952-31CF-4302-A2EA-39526B05C3A9}" destId="{31E74BC8-6B21-428F-A894-603A1C2829B2}" srcOrd="0" destOrd="0" parTransId="{1F6ABF61-F88A-494C-911A-79CAE3429EE1}" sibTransId="{806569B2-D46F-4573-8F70-9E995C8821AA}"/>
    <dgm:cxn modelId="{5C2B41CF-F640-4A40-95D6-049A7C6EC5F6}" type="presOf" srcId="{23626952-31CF-4302-A2EA-39526B05C3A9}" destId="{826BB224-DCCF-4C5E-B40B-94CF159EB354}" srcOrd="0" destOrd="0" presId="urn:microsoft.com/office/officeart/2018/2/layout/IconVerticalSolidList"/>
    <dgm:cxn modelId="{B73860D9-B9A9-4179-8707-A52623E07552}" srcId="{23626952-31CF-4302-A2EA-39526B05C3A9}" destId="{4D310A30-02E6-4112-A373-8BCF576A693A}" srcOrd="1" destOrd="0" parTransId="{038EAD46-1D67-4312-81A1-449A82E65AAE}" sibTransId="{02627E25-4092-4D40-819D-54C70A2FE8CD}"/>
    <dgm:cxn modelId="{D36BE0D3-20B7-4E74-A04D-36089579E9CC}" type="presParOf" srcId="{826BB224-DCCF-4C5E-B40B-94CF159EB354}" destId="{51E897C5-1929-4938-B313-76F424E6C060}" srcOrd="0" destOrd="0" presId="urn:microsoft.com/office/officeart/2018/2/layout/IconVerticalSolidList"/>
    <dgm:cxn modelId="{A2D45C4E-3C7B-4B99-BBBB-AE1E313E0F8C}" type="presParOf" srcId="{51E897C5-1929-4938-B313-76F424E6C060}" destId="{C06CE704-83A9-4FD2-AD36-8A5B60C46095}" srcOrd="0" destOrd="0" presId="urn:microsoft.com/office/officeart/2018/2/layout/IconVerticalSolidList"/>
    <dgm:cxn modelId="{1964010B-DDE0-47F6-B3FE-043A644933F9}" type="presParOf" srcId="{51E897C5-1929-4938-B313-76F424E6C060}" destId="{DF954377-4806-40A3-85CE-F55EDF5FC9B3}" srcOrd="1" destOrd="0" presId="urn:microsoft.com/office/officeart/2018/2/layout/IconVerticalSolidList"/>
    <dgm:cxn modelId="{894CA138-A2F8-4D08-A496-E1DDD7824179}" type="presParOf" srcId="{51E897C5-1929-4938-B313-76F424E6C060}" destId="{2A958640-17C9-4012-81E1-3E1BE373A497}" srcOrd="2" destOrd="0" presId="urn:microsoft.com/office/officeart/2018/2/layout/IconVerticalSolidList"/>
    <dgm:cxn modelId="{B0DDF443-29CA-4807-B58E-A103A73EDB9F}" type="presParOf" srcId="{51E897C5-1929-4938-B313-76F424E6C060}" destId="{09B58AD9-1305-4484-A79C-014DFE018E74}" srcOrd="3" destOrd="0" presId="urn:microsoft.com/office/officeart/2018/2/layout/IconVerticalSolidList"/>
    <dgm:cxn modelId="{775B5A75-8957-41E3-8F80-68138EC084D9}" type="presParOf" srcId="{826BB224-DCCF-4C5E-B40B-94CF159EB354}" destId="{E165CE66-E68B-446F-9238-30600E769B74}" srcOrd="1" destOrd="0" presId="urn:microsoft.com/office/officeart/2018/2/layout/IconVerticalSolidList"/>
    <dgm:cxn modelId="{29BFB7FA-E928-4501-B1C7-3AA0DB528C56}" type="presParOf" srcId="{826BB224-DCCF-4C5E-B40B-94CF159EB354}" destId="{ADD328A9-8B2E-4C21-BD67-705C54F71610}" srcOrd="2" destOrd="0" presId="urn:microsoft.com/office/officeart/2018/2/layout/IconVerticalSolidList"/>
    <dgm:cxn modelId="{C2794CFC-725D-4C99-A4BB-6B366E31455E}" type="presParOf" srcId="{ADD328A9-8B2E-4C21-BD67-705C54F71610}" destId="{0B3D8726-B27B-4287-AFED-F91EBDB4BECB}" srcOrd="0" destOrd="0" presId="urn:microsoft.com/office/officeart/2018/2/layout/IconVerticalSolidList"/>
    <dgm:cxn modelId="{F789A29E-ED16-4F21-B078-22A8FD18381A}" type="presParOf" srcId="{ADD328A9-8B2E-4C21-BD67-705C54F71610}" destId="{33255A11-5C51-4CD2-BB5D-1A5FD8362D2E}" srcOrd="1" destOrd="0" presId="urn:microsoft.com/office/officeart/2018/2/layout/IconVerticalSolidList"/>
    <dgm:cxn modelId="{B75C1FD1-556E-4885-8A2D-3C9454038A11}" type="presParOf" srcId="{ADD328A9-8B2E-4C21-BD67-705C54F71610}" destId="{0F6763B1-AB02-4B54-A490-A73DDC0B1BCB}" srcOrd="2" destOrd="0" presId="urn:microsoft.com/office/officeart/2018/2/layout/IconVerticalSolidList"/>
    <dgm:cxn modelId="{511B520B-F738-4A1A-B942-F336B63783A9}" type="presParOf" srcId="{ADD328A9-8B2E-4C21-BD67-705C54F71610}" destId="{5FA1BDBE-5501-4199-87A3-C6C8BB16E0D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6CE704-83A9-4FD2-AD36-8A5B60C46095}">
      <dsp:nvSpPr>
        <dsp:cNvPr id="0" name=""/>
        <dsp:cNvSpPr/>
      </dsp:nvSpPr>
      <dsp:spPr>
        <a:xfrm>
          <a:off x="0" y="735468"/>
          <a:ext cx="8229600" cy="1357788"/>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954377-4806-40A3-85CE-F55EDF5FC9B3}">
      <dsp:nvSpPr>
        <dsp:cNvPr id="0" name=""/>
        <dsp:cNvSpPr/>
      </dsp:nvSpPr>
      <dsp:spPr>
        <a:xfrm>
          <a:off x="410731" y="1040971"/>
          <a:ext cx="746783" cy="746783"/>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B58AD9-1305-4484-A79C-014DFE018E74}">
      <dsp:nvSpPr>
        <dsp:cNvPr id="0" name=""/>
        <dsp:cNvSpPr/>
      </dsp:nvSpPr>
      <dsp:spPr>
        <a:xfrm>
          <a:off x="1568246" y="735468"/>
          <a:ext cx="666135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QR codes and short URLs often evade detection.</a:t>
          </a:r>
        </a:p>
      </dsp:txBody>
      <dsp:txXfrm>
        <a:off x="1568246" y="735468"/>
        <a:ext cx="6661353" cy="1357788"/>
      </dsp:txXfrm>
    </dsp:sp>
    <dsp:sp modelId="{0B3D8726-B27B-4287-AFED-F91EBDB4BECB}">
      <dsp:nvSpPr>
        <dsp:cNvPr id="0" name=""/>
        <dsp:cNvSpPr/>
      </dsp:nvSpPr>
      <dsp:spPr>
        <a:xfrm>
          <a:off x="0" y="2432705"/>
          <a:ext cx="8229600" cy="1357788"/>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255A11-5C51-4CD2-BB5D-1A5FD8362D2E}">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A1BDBE-5501-4199-87A3-C6C8BB16E0DB}">
      <dsp:nvSpPr>
        <dsp:cNvPr id="0" name=""/>
        <dsp:cNvSpPr/>
      </dsp:nvSpPr>
      <dsp:spPr>
        <a:xfrm>
          <a:off x="1568246" y="2432705"/>
          <a:ext cx="666135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Need for real-time, intelligent security systems.</a:t>
          </a:r>
        </a:p>
      </dsp:txBody>
      <dsp:txXfrm>
        <a:off x="1568246" y="2432705"/>
        <a:ext cx="6661353" cy="135778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236B86-F75A-4C1D-AC90-6C5786C001A1}" type="datetimeFigureOut">
              <a:rPr lang="en-US" smtClean="0"/>
              <a:t>5/6/2025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911020-96CF-42FB-A4C7-309F68E0800A}" type="slidenum">
              <a:rPr lang="en-US" smtClean="0"/>
              <a:t>‹#›</a:t>
            </a:fld>
            <a:endParaRPr lang="en-US"/>
          </a:p>
        </p:txBody>
      </p:sp>
    </p:spTree>
    <p:extLst>
      <p:ext uri="{BB962C8B-B14F-4D97-AF65-F5344CB8AC3E}">
        <p14:creationId xmlns:p14="http://schemas.microsoft.com/office/powerpoint/2010/main" val="522257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The system uses models like LSTM and GRU for analyzing text sequences, CNN for pattern recognition in QR codes, and Random Forest for URL feature classification. These models help detect phishing, spoofed links, and encoded threats effectively.</a:t>
            </a:r>
          </a:p>
          <a:p>
            <a:endParaRPr lang="en-US" dirty="0"/>
          </a:p>
        </p:txBody>
      </p:sp>
      <p:sp>
        <p:nvSpPr>
          <p:cNvPr id="4" name="Slide Number Placeholder 3"/>
          <p:cNvSpPr>
            <a:spLocks noGrp="1"/>
          </p:cNvSpPr>
          <p:nvPr>
            <p:ph type="sldNum" sz="quarter" idx="5"/>
          </p:nvPr>
        </p:nvSpPr>
        <p:spPr/>
        <p:txBody>
          <a:bodyPr/>
          <a:lstStyle/>
          <a:p>
            <a:fld id="{56911020-96CF-42FB-A4C7-309F68E0800A}" type="slidenum">
              <a:rPr lang="en-US" smtClean="0"/>
              <a:t>11</a:t>
            </a:fld>
            <a:endParaRPr lang="en-US"/>
          </a:p>
        </p:txBody>
      </p:sp>
    </p:spTree>
    <p:extLst>
      <p:ext uri="{BB962C8B-B14F-4D97-AF65-F5344CB8AC3E}">
        <p14:creationId xmlns:p14="http://schemas.microsoft.com/office/powerpoint/2010/main" val="2499254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5/6/2025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CEC3B-FA46-4E64-0F7B-BFC42C581112}"/>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9E202AC-82A7-C985-3A7F-ED341E93516C}"/>
              </a:ext>
            </a:extLst>
          </p:cNvPr>
          <p:cNvSpPr txBox="1">
            <a:spLocks/>
          </p:cNvSpPr>
          <p:nvPr/>
        </p:nvSpPr>
        <p:spPr>
          <a:xfrm>
            <a:off x="275303" y="4766187"/>
            <a:ext cx="3873909" cy="1535545"/>
          </a:xfrm>
          <a:prstGeom prst="rect">
            <a:avLst/>
          </a:prstGeom>
        </p:spPr>
        <p:txBody>
          <a:bodyPr vert="horz" lIns="91440" tIns="45720" rIns="91440" bIns="45720" rtlCol="0" anchor="ctr">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defTabSz="914400">
              <a:lnSpc>
                <a:spcPct val="90000"/>
              </a:lnSpc>
              <a:buNone/>
            </a:pPr>
            <a:r>
              <a:rPr lang="en-US" sz="1800" dirty="0">
                <a:solidFill>
                  <a:schemeClr val="bg1"/>
                </a:solidFill>
                <a:latin typeface="Times New Roman" panose="02020603050405020304" pitchFamily="18" charset="0"/>
                <a:cs typeface="Times New Roman" panose="02020603050405020304" pitchFamily="18" charset="0"/>
              </a:rPr>
              <a:t>Team Members: </a:t>
            </a:r>
          </a:p>
          <a:p>
            <a:pPr marL="0" indent="0" defTabSz="914400">
              <a:lnSpc>
                <a:spcPct val="90000"/>
              </a:lnSpc>
              <a:buNone/>
            </a:pPr>
            <a:endParaRPr lang="en-US" sz="1800" dirty="0">
              <a:solidFill>
                <a:schemeClr val="bg1"/>
              </a:solidFill>
              <a:latin typeface="Times New Roman" panose="02020603050405020304" pitchFamily="18" charset="0"/>
              <a:cs typeface="Times New Roman" panose="02020603050405020304" pitchFamily="18" charset="0"/>
            </a:endParaRPr>
          </a:p>
          <a:p>
            <a:pPr marL="0" indent="-228600" defTabSz="914400">
              <a:lnSpc>
                <a:spcPct val="90000"/>
              </a:lnSpc>
              <a:buFont typeface="Arial" panose="020B0604020202020204" pitchFamily="34" charset="0"/>
              <a:buChar char="•"/>
            </a:pPr>
            <a:r>
              <a:rPr lang="en-US" sz="1800" dirty="0">
                <a:solidFill>
                  <a:schemeClr val="bg1"/>
                </a:solidFill>
                <a:latin typeface="Times New Roman" panose="02020603050405020304" pitchFamily="18" charset="0"/>
                <a:cs typeface="Times New Roman" panose="02020603050405020304" pitchFamily="18" charset="0"/>
              </a:rPr>
              <a:t>Akshat Kumar Nautiyal – 235339026</a:t>
            </a:r>
          </a:p>
          <a:p>
            <a:pPr marL="0" indent="-228600" defTabSz="914400">
              <a:lnSpc>
                <a:spcPct val="90000"/>
              </a:lnSpc>
              <a:buFont typeface="Arial" panose="020B0604020202020204" pitchFamily="34" charset="0"/>
              <a:buChar char="•"/>
            </a:pPr>
            <a:r>
              <a:rPr lang="en-US" sz="1800" dirty="0">
                <a:solidFill>
                  <a:schemeClr val="bg1"/>
                </a:solidFill>
                <a:latin typeface="Times New Roman" panose="02020603050405020304" pitchFamily="18" charset="0"/>
                <a:cs typeface="Times New Roman" panose="02020603050405020304" pitchFamily="18" charset="0"/>
              </a:rPr>
              <a:t>Shivam Bhandari - 235339027 </a:t>
            </a:r>
          </a:p>
          <a:p>
            <a:pPr marL="0" indent="-228600" defTabSz="914400">
              <a:lnSpc>
                <a:spcPct val="90000"/>
              </a:lnSpc>
              <a:buFont typeface="Arial" panose="020B0604020202020204" pitchFamily="34" charset="0"/>
              <a:buChar char="•"/>
            </a:pPr>
            <a:r>
              <a:rPr lang="en-US" sz="1800" dirty="0">
                <a:solidFill>
                  <a:schemeClr val="bg1"/>
                </a:solidFill>
                <a:latin typeface="Times New Roman" panose="02020603050405020304" pitchFamily="18" charset="0"/>
                <a:cs typeface="Times New Roman" panose="02020603050405020304" pitchFamily="18" charset="0"/>
              </a:rPr>
              <a:t>Tina Mathpal - 235339045</a:t>
            </a:r>
          </a:p>
          <a:p>
            <a:pPr marL="0" indent="-228600" defTabSz="914400">
              <a:lnSpc>
                <a:spcPct val="90000"/>
              </a:lnSpc>
              <a:buFont typeface="Arial" panose="020B0604020202020204" pitchFamily="34" charset="0"/>
              <a:buChar char="•"/>
            </a:pPr>
            <a:endParaRPr lang="en-US" sz="800" dirty="0">
              <a:solidFill>
                <a:schemeClr val="bg1"/>
              </a:solidFill>
            </a:endParaRPr>
          </a:p>
        </p:txBody>
      </p:sp>
      <p:sp>
        <p:nvSpPr>
          <p:cNvPr id="9" name="TextBox 8">
            <a:extLst>
              <a:ext uri="{FF2B5EF4-FFF2-40B4-BE49-F238E27FC236}">
                <a16:creationId xmlns:a16="http://schemas.microsoft.com/office/drawing/2014/main" id="{70E1D11B-FE83-4ED2-FC9D-724DBA3C3D69}"/>
              </a:ext>
            </a:extLst>
          </p:cNvPr>
          <p:cNvSpPr txBox="1"/>
          <p:nvPr/>
        </p:nvSpPr>
        <p:spPr>
          <a:xfrm>
            <a:off x="6062572" y="5113844"/>
            <a:ext cx="3342965" cy="840230"/>
          </a:xfrm>
          <a:prstGeom prst="rect">
            <a:avLst/>
          </a:prstGeom>
          <a:noFill/>
        </p:spPr>
        <p:txBody>
          <a:bodyPr wrap="square">
            <a:spAutoFit/>
          </a:bodyPr>
          <a:lstStyle/>
          <a:p>
            <a:pPr defTabSz="914400">
              <a:lnSpc>
                <a:spcPct val="90000"/>
              </a:lnSpc>
            </a:pPr>
            <a:r>
              <a:rPr lang="en-US" dirty="0">
                <a:solidFill>
                  <a:schemeClr val="bg1"/>
                </a:solidFill>
              </a:rPr>
              <a:t>Mentor</a:t>
            </a:r>
            <a:r>
              <a:rPr lang="en-US" sz="1800" dirty="0">
                <a:solidFill>
                  <a:schemeClr val="bg1"/>
                </a:solidFill>
              </a:rPr>
              <a:t>: </a:t>
            </a:r>
          </a:p>
          <a:p>
            <a:pPr defTabSz="914400">
              <a:lnSpc>
                <a:spcPct val="90000"/>
              </a:lnSpc>
            </a:pPr>
            <a:endParaRPr lang="en-US" sz="1800" dirty="0">
              <a:solidFill>
                <a:schemeClr val="bg1"/>
              </a:solidFill>
            </a:endParaRPr>
          </a:p>
          <a:p>
            <a:pPr marL="285750" indent="-285750" defTabSz="914400">
              <a:lnSpc>
                <a:spcPct val="90000"/>
              </a:lnSpc>
              <a:buFont typeface="Arial" panose="020B0604020202020204" pitchFamily="34" charset="0"/>
              <a:buChar char="•"/>
            </a:pPr>
            <a:r>
              <a:rPr lang="en-US" sz="1800" dirty="0">
                <a:solidFill>
                  <a:schemeClr val="bg1"/>
                </a:solidFill>
              </a:rPr>
              <a:t>Dr. Rakesh Kumar Saini</a:t>
            </a:r>
          </a:p>
        </p:txBody>
      </p:sp>
      <p:pic>
        <p:nvPicPr>
          <p:cNvPr id="5" name="Content Placeholder 4" descr="A computer screen shot of a computer screen&#10;&#10;AI-generated content may be incorrect.">
            <a:extLst>
              <a:ext uri="{FF2B5EF4-FFF2-40B4-BE49-F238E27FC236}">
                <a16:creationId xmlns:a16="http://schemas.microsoft.com/office/drawing/2014/main" id="{2A69CEE3-BEFC-CD7B-8F34-CF7091E5D561}"/>
              </a:ext>
            </a:extLst>
          </p:cNvPr>
          <p:cNvPicPr>
            <a:picLocks noGrp="1" noChangeAspect="1"/>
          </p:cNvPicPr>
          <p:nvPr>
            <p:ph idx="1"/>
          </p:nvPr>
        </p:nvPicPr>
        <p:blipFill>
          <a:blip r:embed="rId2"/>
          <a:stretch>
            <a:fillRect/>
          </a:stretch>
        </p:blipFill>
        <p:spPr>
          <a:xfrm>
            <a:off x="-23510" y="0"/>
            <a:ext cx="9167510" cy="6858000"/>
          </a:xfrm>
        </p:spPr>
      </p:pic>
      <p:sp>
        <p:nvSpPr>
          <p:cNvPr id="8" name="Content Placeholder 2">
            <a:extLst>
              <a:ext uri="{FF2B5EF4-FFF2-40B4-BE49-F238E27FC236}">
                <a16:creationId xmlns:a16="http://schemas.microsoft.com/office/drawing/2014/main" id="{D5CE4D27-8F3D-52B9-48D5-56FBD298FDAA}"/>
              </a:ext>
            </a:extLst>
          </p:cNvPr>
          <p:cNvSpPr txBox="1">
            <a:spLocks/>
          </p:cNvSpPr>
          <p:nvPr/>
        </p:nvSpPr>
        <p:spPr>
          <a:xfrm>
            <a:off x="427703" y="4918587"/>
            <a:ext cx="3873909" cy="1535545"/>
          </a:xfrm>
          <a:prstGeom prst="rect">
            <a:avLst/>
          </a:prstGeom>
        </p:spPr>
        <p:txBody>
          <a:bodyPr vert="horz" lIns="91440" tIns="45720" rIns="91440" bIns="45720" rtlCol="0" anchor="ctr">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defTabSz="914400">
              <a:lnSpc>
                <a:spcPct val="90000"/>
              </a:lnSpc>
              <a:buNone/>
            </a:pPr>
            <a:r>
              <a:rPr lang="en-US" sz="1800" dirty="0">
                <a:solidFill>
                  <a:schemeClr val="bg1"/>
                </a:solidFill>
                <a:latin typeface="Times New Roman" panose="02020603050405020304" pitchFamily="18" charset="0"/>
                <a:cs typeface="Times New Roman" panose="02020603050405020304" pitchFamily="18" charset="0"/>
              </a:rPr>
              <a:t>Team Members: </a:t>
            </a:r>
          </a:p>
          <a:p>
            <a:pPr marL="0" indent="0" defTabSz="914400">
              <a:lnSpc>
                <a:spcPct val="90000"/>
              </a:lnSpc>
              <a:buNone/>
            </a:pPr>
            <a:endParaRPr lang="en-US" sz="1800" dirty="0">
              <a:solidFill>
                <a:schemeClr val="bg1"/>
              </a:solidFill>
              <a:latin typeface="Times New Roman" panose="02020603050405020304" pitchFamily="18" charset="0"/>
              <a:cs typeface="Times New Roman" panose="02020603050405020304" pitchFamily="18" charset="0"/>
            </a:endParaRPr>
          </a:p>
          <a:p>
            <a:pPr marL="0" indent="-228600" defTabSz="914400">
              <a:lnSpc>
                <a:spcPct val="90000"/>
              </a:lnSpc>
              <a:buFont typeface="Arial" panose="020B0604020202020204" pitchFamily="34" charset="0"/>
              <a:buChar char="•"/>
            </a:pPr>
            <a:r>
              <a:rPr lang="en-US" sz="1800" dirty="0">
                <a:solidFill>
                  <a:schemeClr val="bg1"/>
                </a:solidFill>
                <a:latin typeface="Times New Roman" panose="02020603050405020304" pitchFamily="18" charset="0"/>
                <a:cs typeface="Times New Roman" panose="02020603050405020304" pitchFamily="18" charset="0"/>
              </a:rPr>
              <a:t>Akshat Kumar Nautiyal – 235339026</a:t>
            </a:r>
          </a:p>
          <a:p>
            <a:pPr marL="0" indent="-228600" defTabSz="914400">
              <a:lnSpc>
                <a:spcPct val="90000"/>
              </a:lnSpc>
              <a:buFont typeface="Arial" panose="020B0604020202020204" pitchFamily="34" charset="0"/>
              <a:buChar char="•"/>
            </a:pPr>
            <a:r>
              <a:rPr lang="en-US" sz="1800" dirty="0">
                <a:solidFill>
                  <a:schemeClr val="bg1"/>
                </a:solidFill>
                <a:latin typeface="Times New Roman" panose="02020603050405020304" pitchFamily="18" charset="0"/>
                <a:cs typeface="Times New Roman" panose="02020603050405020304" pitchFamily="18" charset="0"/>
              </a:rPr>
              <a:t>Shivam Bhandari - 235339027 </a:t>
            </a:r>
          </a:p>
          <a:p>
            <a:pPr marL="0" indent="-228600" defTabSz="914400">
              <a:lnSpc>
                <a:spcPct val="90000"/>
              </a:lnSpc>
              <a:buFont typeface="Arial" panose="020B0604020202020204" pitchFamily="34" charset="0"/>
              <a:buChar char="•"/>
            </a:pPr>
            <a:r>
              <a:rPr lang="en-US" sz="1800" dirty="0">
                <a:solidFill>
                  <a:schemeClr val="bg1"/>
                </a:solidFill>
                <a:latin typeface="Times New Roman" panose="02020603050405020304" pitchFamily="18" charset="0"/>
                <a:cs typeface="Times New Roman" panose="02020603050405020304" pitchFamily="18" charset="0"/>
              </a:rPr>
              <a:t>Tina Mathpal - 235339045</a:t>
            </a:r>
          </a:p>
          <a:p>
            <a:pPr marL="0" indent="-228600" defTabSz="914400">
              <a:lnSpc>
                <a:spcPct val="90000"/>
              </a:lnSpc>
              <a:buFont typeface="Arial" panose="020B0604020202020204" pitchFamily="34" charset="0"/>
              <a:buChar char="•"/>
            </a:pPr>
            <a:endParaRPr lang="en-US" sz="800" dirty="0">
              <a:solidFill>
                <a:schemeClr val="bg1"/>
              </a:solidFill>
            </a:endParaRPr>
          </a:p>
        </p:txBody>
      </p:sp>
      <p:sp>
        <p:nvSpPr>
          <p:cNvPr id="10" name="TextBox 9">
            <a:extLst>
              <a:ext uri="{FF2B5EF4-FFF2-40B4-BE49-F238E27FC236}">
                <a16:creationId xmlns:a16="http://schemas.microsoft.com/office/drawing/2014/main" id="{9124242B-60F6-6338-ECC0-DD4B8489A3AD}"/>
              </a:ext>
            </a:extLst>
          </p:cNvPr>
          <p:cNvSpPr txBox="1"/>
          <p:nvPr/>
        </p:nvSpPr>
        <p:spPr>
          <a:xfrm>
            <a:off x="6214972" y="5266244"/>
            <a:ext cx="3342965" cy="840230"/>
          </a:xfrm>
          <a:prstGeom prst="rect">
            <a:avLst/>
          </a:prstGeom>
          <a:noFill/>
        </p:spPr>
        <p:txBody>
          <a:bodyPr wrap="square">
            <a:spAutoFit/>
          </a:bodyPr>
          <a:lstStyle/>
          <a:p>
            <a:pPr defTabSz="914400">
              <a:lnSpc>
                <a:spcPct val="90000"/>
              </a:lnSpc>
            </a:pPr>
            <a:r>
              <a:rPr lang="en-US" dirty="0">
                <a:solidFill>
                  <a:schemeClr val="bg1"/>
                </a:solidFill>
              </a:rPr>
              <a:t>Mentor</a:t>
            </a:r>
            <a:r>
              <a:rPr lang="en-US" sz="1800" dirty="0">
                <a:solidFill>
                  <a:schemeClr val="bg1"/>
                </a:solidFill>
              </a:rPr>
              <a:t>: </a:t>
            </a:r>
          </a:p>
          <a:p>
            <a:pPr defTabSz="914400">
              <a:lnSpc>
                <a:spcPct val="90000"/>
              </a:lnSpc>
            </a:pPr>
            <a:endParaRPr lang="en-US" sz="1800" dirty="0">
              <a:solidFill>
                <a:schemeClr val="bg1"/>
              </a:solidFill>
            </a:endParaRPr>
          </a:p>
          <a:p>
            <a:pPr marL="285750" indent="-285750" defTabSz="914400">
              <a:lnSpc>
                <a:spcPct val="90000"/>
              </a:lnSpc>
              <a:buFont typeface="Arial" panose="020B0604020202020204" pitchFamily="34" charset="0"/>
              <a:buChar char="•"/>
            </a:pPr>
            <a:r>
              <a:rPr lang="en-US" sz="1800" dirty="0">
                <a:solidFill>
                  <a:schemeClr val="bg1"/>
                </a:solidFill>
              </a:rPr>
              <a:t>Dr. Rakesh Kumar Saini</a:t>
            </a:r>
          </a:p>
        </p:txBody>
      </p:sp>
      <p:sp>
        <p:nvSpPr>
          <p:cNvPr id="11" name="Title 1">
            <a:extLst>
              <a:ext uri="{FF2B5EF4-FFF2-40B4-BE49-F238E27FC236}">
                <a16:creationId xmlns:a16="http://schemas.microsoft.com/office/drawing/2014/main" id="{B8F7EFF4-D93B-DF62-C186-21E53346F0CD}"/>
              </a:ext>
            </a:extLst>
          </p:cNvPr>
          <p:cNvSpPr>
            <a:spLocks noGrp="1"/>
          </p:cNvSpPr>
          <p:nvPr>
            <p:ph type="title"/>
          </p:nvPr>
        </p:nvSpPr>
        <p:spPr>
          <a:xfrm>
            <a:off x="491612" y="226887"/>
            <a:ext cx="8121446" cy="1618489"/>
          </a:xfrm>
        </p:spPr>
        <p:txBody>
          <a:bodyPr anchor="ctr">
            <a:noAutofit/>
          </a:bodyPr>
          <a:lstStyle/>
          <a:p>
            <a:r>
              <a:rPr lang="en-US" sz="3400" b="1" dirty="0">
                <a:solidFill>
                  <a:schemeClr val="bg1"/>
                </a:solidFill>
                <a:latin typeface="Times New Roman" panose="02020603050405020304" pitchFamily="18" charset="0"/>
                <a:cs typeface="Times New Roman" panose="02020603050405020304" pitchFamily="18" charset="0"/>
              </a:rPr>
              <a:t>Network Security Real Time Anomaly Detection Email QR And URL Analysis</a:t>
            </a:r>
          </a:p>
        </p:txBody>
      </p:sp>
    </p:spTree>
    <p:extLst>
      <p:ext uri="{BB962C8B-B14F-4D97-AF65-F5344CB8AC3E}">
        <p14:creationId xmlns:p14="http://schemas.microsoft.com/office/powerpoint/2010/main" val="2697433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r>
              <a:rPr lang="en-US" sz="6300" b="1"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963930" y="2969469"/>
            <a:ext cx="6056111" cy="2800395"/>
          </a:xfrm>
        </p:spPr>
        <p:txBody>
          <a:bodyPr anchor="t">
            <a:normAutofit/>
          </a:bodyPr>
          <a:lstStyle/>
          <a:p>
            <a:r>
              <a:rPr lang="en-US" sz="2100" dirty="0">
                <a:latin typeface="Times New Roman" panose="02020603050405020304" pitchFamily="18" charset="0"/>
                <a:cs typeface="Times New Roman" panose="02020603050405020304" pitchFamily="18" charset="0"/>
              </a:rPr>
              <a:t>In an era of rising cyber threats, this project presents </a:t>
            </a:r>
            <a:r>
              <a:rPr lang="en-US" sz="2100" b="1" dirty="0">
                <a:latin typeface="Times New Roman" panose="02020603050405020304" pitchFamily="18" charset="0"/>
                <a:cs typeface="Times New Roman" panose="02020603050405020304" pitchFamily="18" charset="0"/>
              </a:rPr>
              <a:t>real-time network anomaly detection</a:t>
            </a:r>
            <a:r>
              <a:rPr lang="en-US" sz="2100" dirty="0">
                <a:latin typeface="Times New Roman" panose="02020603050405020304" pitchFamily="18" charset="0"/>
                <a:cs typeface="Times New Roman" panose="02020603050405020304" pitchFamily="18" charset="0"/>
              </a:rPr>
              <a:t> and </a:t>
            </a:r>
            <a:r>
              <a:rPr lang="en-US" sz="2100" b="1" dirty="0">
                <a:latin typeface="Times New Roman" panose="02020603050405020304" pitchFamily="18" charset="0"/>
                <a:cs typeface="Times New Roman" panose="02020603050405020304" pitchFamily="18" charset="0"/>
              </a:rPr>
              <a:t>phishing URL analysis</a:t>
            </a:r>
            <a:r>
              <a:rPr lang="en-US" sz="2100" dirty="0">
                <a:latin typeface="Times New Roman" panose="02020603050405020304" pitchFamily="18" charset="0"/>
                <a:cs typeface="Times New Roman" panose="02020603050405020304" pitchFamily="18" charset="0"/>
              </a:rPr>
              <a:t>, particularly focusing on threats hidden in email QR codes and URLs. </a:t>
            </a:r>
          </a:p>
          <a:p>
            <a:r>
              <a:rPr lang="en-US" sz="2100" dirty="0">
                <a:latin typeface="Times New Roman" panose="02020603050405020304" pitchFamily="18" charset="0"/>
                <a:cs typeface="Times New Roman" panose="02020603050405020304" pitchFamily="18" charset="0"/>
              </a:rPr>
              <a:t>Traditional defenses like firewalls and signature-based antivirus tools often fall short in identifying Dos attack and evasive phishing tactics.</a:t>
            </a:r>
          </a:p>
          <a:p>
            <a:pPr marL="0" indent="0">
              <a:buNone/>
            </a:pPr>
            <a:endParaRPr lang="en-US" sz="2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6131316" y="457951"/>
            <a:ext cx="2240924"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628650" y="365125"/>
            <a:ext cx="7886700" cy="1325563"/>
          </a:xfrm>
        </p:spPr>
        <p:txBody>
          <a:bodyPr>
            <a:normAutofit/>
          </a:bodyPr>
          <a:lstStyle/>
          <a:p>
            <a:r>
              <a:rPr lang="en-US" b="1">
                <a:latin typeface="Times New Roman" panose="02020603050405020304" pitchFamily="18" charset="0"/>
                <a:cs typeface="Times New Roman" panose="02020603050405020304" pitchFamily="18" charset="0"/>
              </a:rPr>
              <a:t>Related Work</a:t>
            </a:r>
            <a:endParaRPr lang="en-US"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B2A05A69-6C22-8F1E-B060-5B3970F5478A}"/>
              </a:ext>
            </a:extLst>
          </p:cNvPr>
          <p:cNvGraphicFramePr>
            <a:graphicFrameLocks noGrp="1"/>
          </p:cNvGraphicFramePr>
          <p:nvPr>
            <p:ph idx="1"/>
            <p:extLst>
              <p:ext uri="{D42A27DB-BD31-4B8C-83A1-F6EECF244321}">
                <p14:modId xmlns:p14="http://schemas.microsoft.com/office/powerpoint/2010/main" val="880696540"/>
              </p:ext>
            </p:extLst>
          </p:nvPr>
        </p:nvGraphicFramePr>
        <p:xfrm>
          <a:off x="628650" y="2012452"/>
          <a:ext cx="7886703" cy="3977687"/>
        </p:xfrm>
        <a:graphic>
          <a:graphicData uri="http://schemas.openxmlformats.org/drawingml/2006/table">
            <a:tbl>
              <a:tblPr firstRow="1" bandRow="1">
                <a:tableStyleId>{2D5ABB26-0587-4C30-8999-92F81FD0307C}</a:tableStyleId>
              </a:tblPr>
              <a:tblGrid>
                <a:gridCol w="1857734">
                  <a:extLst>
                    <a:ext uri="{9D8B030D-6E8A-4147-A177-3AD203B41FA5}">
                      <a16:colId xmlns:a16="http://schemas.microsoft.com/office/drawing/2014/main" val="1904353127"/>
                    </a:ext>
                  </a:extLst>
                </a:gridCol>
                <a:gridCol w="1463378">
                  <a:extLst>
                    <a:ext uri="{9D8B030D-6E8A-4147-A177-3AD203B41FA5}">
                      <a16:colId xmlns:a16="http://schemas.microsoft.com/office/drawing/2014/main" val="212401810"/>
                    </a:ext>
                  </a:extLst>
                </a:gridCol>
                <a:gridCol w="1469866">
                  <a:extLst>
                    <a:ext uri="{9D8B030D-6E8A-4147-A177-3AD203B41FA5}">
                      <a16:colId xmlns:a16="http://schemas.microsoft.com/office/drawing/2014/main" val="4071468649"/>
                    </a:ext>
                  </a:extLst>
                </a:gridCol>
                <a:gridCol w="1544569">
                  <a:extLst>
                    <a:ext uri="{9D8B030D-6E8A-4147-A177-3AD203B41FA5}">
                      <a16:colId xmlns:a16="http://schemas.microsoft.com/office/drawing/2014/main" val="2016796532"/>
                    </a:ext>
                  </a:extLst>
                </a:gridCol>
                <a:gridCol w="1551156">
                  <a:extLst>
                    <a:ext uri="{9D8B030D-6E8A-4147-A177-3AD203B41FA5}">
                      <a16:colId xmlns:a16="http://schemas.microsoft.com/office/drawing/2014/main" val="3075548888"/>
                    </a:ext>
                  </a:extLst>
                </a:gridCol>
              </a:tblGrid>
              <a:tr h="347920">
                <a:tc>
                  <a:txBody>
                    <a:bodyPr/>
                    <a:lstStyle/>
                    <a:p>
                      <a:r>
                        <a:rPr lang="en-US" sz="1500" b="1">
                          <a:solidFill>
                            <a:schemeClr val="tx1"/>
                          </a:solidFill>
                          <a:latin typeface="Times New Roman" panose="02020603050405020304" pitchFamily="18" charset="0"/>
                          <a:cs typeface="Times New Roman" panose="02020603050405020304" pitchFamily="18" charset="0"/>
                        </a:rPr>
                        <a:t>Author</a:t>
                      </a:r>
                    </a:p>
                  </a:txBody>
                  <a:tcPr marL="77112" marR="77112" marT="38556" marB="38556">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b="1" cap="none" spc="0">
                          <a:solidFill>
                            <a:schemeClr val="tx1"/>
                          </a:solidFill>
                          <a:latin typeface="Times New Roman" panose="02020603050405020304" pitchFamily="18" charset="0"/>
                          <a:cs typeface="Times New Roman" panose="02020603050405020304" pitchFamily="18" charset="0"/>
                        </a:rPr>
                        <a:t>Accuracy</a:t>
                      </a:r>
                    </a:p>
                  </a:txBody>
                  <a:tcPr marL="35110" marR="35110" marT="15516" marB="702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b="1" cap="none" spc="0">
                          <a:solidFill>
                            <a:schemeClr val="tx1"/>
                          </a:solidFill>
                          <a:latin typeface="Times New Roman" panose="02020603050405020304" pitchFamily="18" charset="0"/>
                          <a:cs typeface="Times New Roman" panose="02020603050405020304" pitchFamily="18" charset="0"/>
                        </a:rPr>
                        <a:t>Dataset</a:t>
                      </a:r>
                    </a:p>
                  </a:txBody>
                  <a:tcPr marL="35110" marR="35110" marT="15516" marB="702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b="1" cap="none" spc="0">
                          <a:solidFill>
                            <a:schemeClr val="tx1"/>
                          </a:solidFill>
                          <a:latin typeface="Times New Roman" panose="02020603050405020304" pitchFamily="18" charset="0"/>
                          <a:cs typeface="Times New Roman" panose="02020603050405020304" pitchFamily="18" charset="0"/>
                        </a:rPr>
                        <a:t>Advantage</a:t>
                      </a:r>
                    </a:p>
                  </a:txBody>
                  <a:tcPr marL="35110" marR="35110" marT="15516" marB="702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b="1" cap="none" spc="0">
                          <a:solidFill>
                            <a:schemeClr val="tx1"/>
                          </a:solidFill>
                          <a:latin typeface="Times New Roman" panose="02020603050405020304" pitchFamily="18" charset="0"/>
                          <a:cs typeface="Times New Roman" panose="02020603050405020304" pitchFamily="18" charset="0"/>
                        </a:rPr>
                        <a:t>Disadvantage</a:t>
                      </a:r>
                    </a:p>
                  </a:txBody>
                  <a:tcPr marL="35110" marR="35110" marT="15516" marB="702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9526915"/>
                  </a:ext>
                </a:extLst>
              </a:tr>
              <a:tr h="57925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000" b="0" cap="none" spc="0">
                          <a:solidFill>
                            <a:schemeClr val="tx1"/>
                          </a:solidFill>
                          <a:latin typeface="Times New Roman" panose="02020603050405020304" pitchFamily="18" charset="0"/>
                          <a:cs typeface="Times New Roman" panose="02020603050405020304" pitchFamily="18" charset="0"/>
                        </a:rPr>
                        <a:t>Bian Hui et al. [2]</a:t>
                      </a:r>
                    </a:p>
                    <a:p>
                      <a:endParaRPr lang="en-US" sz="1000" b="0">
                        <a:solidFill>
                          <a:schemeClr val="tx1"/>
                        </a:solidFill>
                        <a:latin typeface="Times New Roman" panose="02020603050405020304" pitchFamily="18" charset="0"/>
                        <a:cs typeface="Times New Roman" panose="02020603050405020304" pitchFamily="18" charset="0"/>
                      </a:endParaRPr>
                    </a:p>
                  </a:txBody>
                  <a:tcPr marL="77112" marR="77112" marT="38556" marB="38556">
                    <a:lnT w="12700" cap="flat" cmpd="sng" algn="ctr">
                      <a:solidFill>
                        <a:schemeClr val="tx1"/>
                      </a:solidFill>
                      <a:prstDash val="solid"/>
                      <a:round/>
                      <a:headEnd type="none" w="med" len="med"/>
                      <a:tailEnd type="none" w="med" len="med"/>
                    </a:lnT>
                  </a:tcPr>
                </a:tc>
                <a:tc>
                  <a:txBody>
                    <a:bodyPr/>
                    <a:lstStyle/>
                    <a:p>
                      <a:r>
                        <a:rPr lang="en-US" sz="1000" b="0" cap="none" spc="0">
                          <a:solidFill>
                            <a:schemeClr val="tx1"/>
                          </a:solidFill>
                          <a:latin typeface="Times New Roman" panose="02020603050405020304" pitchFamily="18" charset="0"/>
                          <a:cs typeface="Times New Roman" panose="02020603050405020304" pitchFamily="18" charset="0"/>
                        </a:rPr>
                        <a:t>93.72%</a:t>
                      </a:r>
                    </a:p>
                  </a:txBody>
                  <a:tcPr marL="35110" marR="35110" marT="15516" marB="70221" anchor="ctr">
                    <a:lnT w="12700" cap="flat" cmpd="sng" algn="ctr">
                      <a:solidFill>
                        <a:schemeClr val="tx1"/>
                      </a:solidFill>
                      <a:prstDash val="solid"/>
                      <a:round/>
                      <a:headEnd type="none" w="med" len="med"/>
                      <a:tailEnd type="none" w="med" len="med"/>
                    </a:lnT>
                  </a:tcPr>
                </a:tc>
                <a:tc>
                  <a:txBody>
                    <a:bodyPr/>
                    <a:lstStyle/>
                    <a:p>
                      <a:r>
                        <a:rPr lang="en-US" sz="1000" cap="none" spc="0">
                          <a:solidFill>
                            <a:schemeClr val="tx1"/>
                          </a:solidFill>
                          <a:latin typeface="Times New Roman" panose="02020603050405020304" pitchFamily="18" charset="0"/>
                          <a:cs typeface="Times New Roman" panose="02020603050405020304" pitchFamily="18" charset="0"/>
                        </a:rPr>
                        <a:t>NSL-KDD</a:t>
                      </a:r>
                    </a:p>
                  </a:txBody>
                  <a:tcPr marL="35110" marR="35110" marT="15516" marB="70221" anchor="ctr">
                    <a:lnT w="12700" cap="flat" cmpd="sng" algn="ctr">
                      <a:solidFill>
                        <a:schemeClr val="tx1"/>
                      </a:solidFill>
                      <a:prstDash val="solid"/>
                      <a:round/>
                      <a:headEnd type="none" w="med" len="med"/>
                      <a:tailEnd type="none" w="med" len="med"/>
                    </a:lnT>
                  </a:tcPr>
                </a:tc>
                <a:tc>
                  <a:txBody>
                    <a:bodyPr/>
                    <a:lstStyle/>
                    <a:p>
                      <a:r>
                        <a:rPr lang="en-US" sz="1000" cap="none" spc="0">
                          <a:solidFill>
                            <a:schemeClr val="tx1"/>
                          </a:solidFill>
                          <a:latin typeface="Times New Roman" panose="02020603050405020304" pitchFamily="18" charset="0"/>
                          <a:cs typeface="Times New Roman" panose="02020603050405020304" pitchFamily="18" charset="0"/>
                        </a:rPr>
                        <a:t>Hybrid </a:t>
                      </a:r>
                      <a:r>
                        <a:rPr lang="en-US" sz="1000" b="1" cap="none" spc="0">
                          <a:solidFill>
                            <a:schemeClr val="tx1"/>
                          </a:solidFill>
                          <a:latin typeface="Times New Roman" panose="02020603050405020304" pitchFamily="18" charset="0"/>
                          <a:cs typeface="Times New Roman" panose="02020603050405020304" pitchFamily="18" charset="0"/>
                        </a:rPr>
                        <a:t>CNN-LSTM</a:t>
                      </a:r>
                      <a:r>
                        <a:rPr lang="en-US" sz="1000" cap="none" spc="0">
                          <a:solidFill>
                            <a:schemeClr val="tx1"/>
                          </a:solidFill>
                          <a:latin typeface="Times New Roman" panose="02020603050405020304" pitchFamily="18" charset="0"/>
                          <a:cs typeface="Times New Roman" panose="02020603050405020304" pitchFamily="18" charset="0"/>
                        </a:rPr>
                        <a:t> improves detection metrics over traditional ML.</a:t>
                      </a:r>
                    </a:p>
                  </a:txBody>
                  <a:tcPr marL="35110" marR="35110" marT="15516" marB="70221" anchor="ctr">
                    <a:lnT w="12700" cap="flat" cmpd="sng" algn="ctr">
                      <a:solidFill>
                        <a:schemeClr val="tx1"/>
                      </a:solidFill>
                      <a:prstDash val="solid"/>
                      <a:round/>
                      <a:headEnd type="none" w="med" len="med"/>
                      <a:tailEnd type="none" w="med" len="med"/>
                    </a:lnT>
                  </a:tcPr>
                </a:tc>
                <a:tc>
                  <a:txBody>
                    <a:bodyPr/>
                    <a:lstStyle/>
                    <a:p>
                      <a:r>
                        <a:rPr lang="en-US" sz="1000" cap="none" spc="0">
                          <a:solidFill>
                            <a:schemeClr val="tx1"/>
                          </a:solidFill>
                          <a:latin typeface="Times New Roman" panose="02020603050405020304" pitchFamily="18" charset="0"/>
                          <a:cs typeface="Times New Roman" panose="02020603050405020304" pitchFamily="18" charset="0"/>
                        </a:rPr>
                        <a:t>Dataset is outdated; lacks real-time adaptability.</a:t>
                      </a:r>
                    </a:p>
                  </a:txBody>
                  <a:tcPr marL="35110" marR="35110" marT="15516" marB="70221"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583289778"/>
                  </a:ext>
                </a:extLst>
              </a:tr>
              <a:tr h="57925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00" b="0" cap="none" spc="0">
                          <a:solidFill>
                            <a:schemeClr val="tx1"/>
                          </a:solidFill>
                          <a:latin typeface="Times New Roman" panose="02020603050405020304" pitchFamily="18" charset="0"/>
                          <a:cs typeface="Times New Roman" panose="02020603050405020304" pitchFamily="18" charset="0"/>
                        </a:rPr>
                        <a:t>Saba Aslam et al. [4]</a:t>
                      </a:r>
                    </a:p>
                    <a:p>
                      <a:endParaRPr lang="en-US" sz="1000" b="0">
                        <a:solidFill>
                          <a:schemeClr val="tx1"/>
                        </a:solidFill>
                        <a:latin typeface="Times New Roman" panose="02020603050405020304" pitchFamily="18" charset="0"/>
                        <a:cs typeface="Times New Roman" panose="02020603050405020304" pitchFamily="18" charset="0"/>
                      </a:endParaRPr>
                    </a:p>
                  </a:txBody>
                  <a:tcPr marL="77112" marR="77112" marT="38556" marB="38556"/>
                </a:tc>
                <a:tc>
                  <a:txBody>
                    <a:bodyPr/>
                    <a:lstStyle/>
                    <a:p>
                      <a:r>
                        <a:rPr lang="en-US" sz="1000" b="0" cap="none" spc="0">
                          <a:solidFill>
                            <a:schemeClr val="tx1"/>
                          </a:solidFill>
                          <a:latin typeface="Times New Roman" panose="02020603050405020304" pitchFamily="18" charset="0"/>
                          <a:cs typeface="Times New Roman" panose="02020603050405020304" pitchFamily="18" charset="0"/>
                        </a:rPr>
                        <a:t>96.04%</a:t>
                      </a:r>
                    </a:p>
                  </a:txBody>
                  <a:tcPr marL="35110" marR="35110" marT="15516" marB="70221" anchor="ctr"/>
                </a:tc>
                <a:tc>
                  <a:txBody>
                    <a:bodyPr/>
                    <a:lstStyle/>
                    <a:p>
                      <a:r>
                        <a:rPr lang="en-US" sz="1000" cap="none" spc="0">
                          <a:solidFill>
                            <a:schemeClr val="tx1"/>
                          </a:solidFill>
                          <a:latin typeface="Times New Roman" panose="02020603050405020304" pitchFamily="18" charset="0"/>
                          <a:cs typeface="Times New Roman" panose="02020603050405020304" pitchFamily="18" charset="0"/>
                        </a:rPr>
                        <a:t>Alexa + PhishTank</a:t>
                      </a:r>
                    </a:p>
                  </a:txBody>
                  <a:tcPr marL="35110" marR="35110" marT="15516" marB="70221" anchor="ctr"/>
                </a:tc>
                <a:tc>
                  <a:txBody>
                    <a:bodyPr/>
                    <a:lstStyle/>
                    <a:p>
                      <a:r>
                        <a:rPr lang="en-US" sz="1000" cap="none" spc="0">
                          <a:solidFill>
                            <a:schemeClr val="tx1"/>
                          </a:solidFill>
                          <a:latin typeface="Times New Roman" panose="02020603050405020304" pitchFamily="18" charset="0"/>
                          <a:cs typeface="Times New Roman" panose="02020603050405020304" pitchFamily="18" charset="0"/>
                        </a:rPr>
                        <a:t>Two-phase LSTM-ML with char-TFIDF enhances generalization.</a:t>
                      </a:r>
                    </a:p>
                  </a:txBody>
                  <a:tcPr marL="35110" marR="35110" marT="15516" marB="70221" anchor="ctr"/>
                </a:tc>
                <a:tc>
                  <a:txBody>
                    <a:bodyPr/>
                    <a:lstStyle/>
                    <a:p>
                      <a:r>
                        <a:rPr lang="en-US" sz="1000" cap="none" spc="0">
                          <a:solidFill>
                            <a:schemeClr val="tx1"/>
                          </a:solidFill>
                          <a:latin typeface="Times New Roman" panose="02020603050405020304" pitchFamily="18" charset="0"/>
                          <a:cs typeface="Times New Roman" panose="02020603050405020304" pitchFamily="18" charset="0"/>
                        </a:rPr>
                        <a:t>High computational cost; limited to text-based URL analysis.</a:t>
                      </a:r>
                    </a:p>
                  </a:txBody>
                  <a:tcPr marL="35110" marR="35110" marT="15516" marB="70221" anchor="ctr"/>
                </a:tc>
                <a:extLst>
                  <a:ext uri="{0D108BD9-81ED-4DB2-BD59-A6C34878D82A}">
                    <a16:rowId xmlns:a16="http://schemas.microsoft.com/office/drawing/2014/main" val="2513939834"/>
                  </a:ext>
                </a:extLst>
              </a:tr>
              <a:tr h="73348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sz="1000" b="0" cap="none" spc="0">
                          <a:solidFill>
                            <a:schemeClr val="tx1"/>
                          </a:solidFill>
                          <a:latin typeface="Times New Roman" panose="02020603050405020304" pitchFamily="18" charset="0"/>
                          <a:cs typeface="Times New Roman" panose="02020603050405020304" pitchFamily="18" charset="0"/>
                        </a:rPr>
                        <a:t>Ume Zara et al. [6]</a:t>
                      </a:r>
                    </a:p>
                    <a:p>
                      <a:endParaRPr lang="en-US" sz="1000" b="0">
                        <a:solidFill>
                          <a:schemeClr val="tx1"/>
                        </a:solidFill>
                        <a:latin typeface="Times New Roman" panose="02020603050405020304" pitchFamily="18" charset="0"/>
                        <a:cs typeface="Times New Roman" panose="02020603050405020304" pitchFamily="18" charset="0"/>
                      </a:endParaRPr>
                    </a:p>
                  </a:txBody>
                  <a:tcPr marL="77112" marR="77112" marT="38556" marB="38556"/>
                </a:tc>
                <a:tc>
                  <a:txBody>
                    <a:bodyPr/>
                    <a:lstStyle/>
                    <a:p>
                      <a:r>
                        <a:rPr lang="en-US" sz="1000" b="0" cap="none" spc="0">
                          <a:solidFill>
                            <a:schemeClr val="tx1"/>
                          </a:solidFill>
                          <a:latin typeface="Times New Roman" panose="02020603050405020304" pitchFamily="18" charset="0"/>
                          <a:cs typeface="Times New Roman" panose="02020603050405020304" pitchFamily="18" charset="0"/>
                        </a:rPr>
                        <a:t>98.9%</a:t>
                      </a:r>
                    </a:p>
                  </a:txBody>
                  <a:tcPr marL="35110" marR="35110" marT="15516" marB="70221" anchor="ctr"/>
                </a:tc>
                <a:tc>
                  <a:txBody>
                    <a:bodyPr/>
                    <a:lstStyle/>
                    <a:p>
                      <a:r>
                        <a:rPr lang="en-US" sz="1000" cap="none" spc="0">
                          <a:solidFill>
                            <a:schemeClr val="tx1"/>
                          </a:solidFill>
                          <a:latin typeface="Times New Roman" panose="02020603050405020304" pitchFamily="18" charset="0"/>
                          <a:cs typeface="Times New Roman" panose="02020603050405020304" pitchFamily="18" charset="0"/>
                        </a:rPr>
                        <a:t>Kaggle</a:t>
                      </a:r>
                    </a:p>
                  </a:txBody>
                  <a:tcPr marL="35110" marR="35110" marT="15516" marB="70221" anchor="ctr"/>
                </a:tc>
                <a:tc>
                  <a:txBody>
                    <a:bodyPr/>
                    <a:lstStyle/>
                    <a:p>
                      <a:r>
                        <a:rPr lang="en-US" sz="1000" cap="none" spc="0">
                          <a:solidFill>
                            <a:schemeClr val="tx1"/>
                          </a:solidFill>
                          <a:latin typeface="Times New Roman" panose="02020603050405020304" pitchFamily="18" charset="0"/>
                          <a:cs typeface="Times New Roman" panose="02020603050405020304" pitchFamily="18" charset="0"/>
                        </a:rPr>
                        <a:t>Ensemble of RF, DT, LSTM, GRU boosts phishing detection performance.</a:t>
                      </a:r>
                    </a:p>
                  </a:txBody>
                  <a:tcPr marL="35110" marR="35110" marT="15516" marB="70221" anchor="ctr"/>
                </a:tc>
                <a:tc>
                  <a:txBody>
                    <a:bodyPr/>
                    <a:lstStyle/>
                    <a:p>
                      <a:r>
                        <a:rPr lang="en-US" sz="1000" cap="none" spc="0">
                          <a:solidFill>
                            <a:schemeClr val="tx1"/>
                          </a:solidFill>
                          <a:latin typeface="Times New Roman" panose="02020603050405020304" pitchFamily="18" charset="0"/>
                          <a:cs typeface="Times New Roman" panose="02020603050405020304" pitchFamily="18" charset="0"/>
                        </a:rPr>
                        <a:t>Risk of overfitting; lacks QR code and image-based phishing detection.</a:t>
                      </a:r>
                    </a:p>
                  </a:txBody>
                  <a:tcPr marL="35110" marR="35110" marT="15516" marB="70221" anchor="ctr"/>
                </a:tc>
                <a:extLst>
                  <a:ext uri="{0D108BD9-81ED-4DB2-BD59-A6C34878D82A}">
                    <a16:rowId xmlns:a16="http://schemas.microsoft.com/office/drawing/2014/main" val="667283455"/>
                  </a:ext>
                </a:extLst>
              </a:tr>
              <a:tr h="57925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sz="1000" b="0" cap="none" spc="0">
                          <a:solidFill>
                            <a:schemeClr val="tx1"/>
                          </a:solidFill>
                          <a:latin typeface="Times New Roman" panose="02020603050405020304" pitchFamily="18" charset="0"/>
                          <a:cs typeface="Times New Roman" panose="02020603050405020304" pitchFamily="18" charset="0"/>
                        </a:rPr>
                        <a:t>Aniket Garje et al. [3]</a:t>
                      </a:r>
                    </a:p>
                    <a:p>
                      <a:endParaRPr lang="en-US" sz="1000" b="0">
                        <a:solidFill>
                          <a:schemeClr val="tx1"/>
                        </a:solidFill>
                        <a:latin typeface="Times New Roman" panose="02020603050405020304" pitchFamily="18" charset="0"/>
                        <a:cs typeface="Times New Roman" panose="02020603050405020304" pitchFamily="18" charset="0"/>
                      </a:endParaRPr>
                    </a:p>
                  </a:txBody>
                  <a:tcPr marL="77112" marR="77112" marT="38556" marB="38556"/>
                </a:tc>
                <a:tc>
                  <a:txBody>
                    <a:bodyPr/>
                    <a:lstStyle/>
                    <a:p>
                      <a:r>
                        <a:rPr lang="en-US" sz="1000" b="0" cap="none" spc="0">
                          <a:solidFill>
                            <a:schemeClr val="tx1"/>
                          </a:solidFill>
                          <a:latin typeface="Times New Roman" panose="02020603050405020304" pitchFamily="18" charset="0"/>
                          <a:cs typeface="Times New Roman" panose="02020603050405020304" pitchFamily="18" charset="0"/>
                        </a:rPr>
                        <a:t>94–98.4%</a:t>
                      </a:r>
                    </a:p>
                  </a:txBody>
                  <a:tcPr marL="35110" marR="35110" marT="15516" marB="70221" anchor="ctr"/>
                </a:tc>
                <a:tc>
                  <a:txBody>
                    <a:bodyPr/>
                    <a:lstStyle/>
                    <a:p>
                      <a:r>
                        <a:rPr lang="en-US" sz="1000" cap="none" spc="0">
                          <a:solidFill>
                            <a:schemeClr val="tx1"/>
                          </a:solidFill>
                          <a:latin typeface="Times New Roman" panose="02020603050405020304" pitchFamily="18" charset="0"/>
                          <a:cs typeface="Times New Roman" panose="02020603050405020304" pitchFamily="18" charset="0"/>
                        </a:rPr>
                        <a:t>PhishTank, DMOZ</a:t>
                      </a:r>
                    </a:p>
                  </a:txBody>
                  <a:tcPr marL="35110" marR="35110" marT="15516" marB="70221" anchor="ctr"/>
                </a:tc>
                <a:tc>
                  <a:txBody>
                    <a:bodyPr/>
                    <a:lstStyle/>
                    <a:p>
                      <a:r>
                        <a:rPr lang="en-US" sz="1000" cap="none" spc="0">
                          <a:solidFill>
                            <a:schemeClr val="tx1"/>
                          </a:solidFill>
                          <a:latin typeface="Times New Roman" panose="02020603050405020304" pitchFamily="18" charset="0"/>
                          <a:cs typeface="Times New Roman" panose="02020603050405020304" pitchFamily="18" charset="0"/>
                        </a:rPr>
                        <a:t>Strong results with Decision Tree and Random Forest using simple features.</a:t>
                      </a:r>
                    </a:p>
                  </a:txBody>
                  <a:tcPr marL="35110" marR="35110" marT="15516" marB="70221" anchor="ctr"/>
                </a:tc>
                <a:tc>
                  <a:txBody>
                    <a:bodyPr/>
                    <a:lstStyle/>
                    <a:p>
                      <a:r>
                        <a:rPr lang="en-US" sz="1000" cap="none" spc="0">
                          <a:solidFill>
                            <a:schemeClr val="tx1"/>
                          </a:solidFill>
                          <a:latin typeface="Times New Roman" panose="02020603050405020304" pitchFamily="18" charset="0"/>
                          <a:cs typeface="Times New Roman" panose="02020603050405020304" pitchFamily="18" charset="0"/>
                        </a:rPr>
                        <a:t>Heavily reliant on manual feature engineering; lacks DL scalability.</a:t>
                      </a:r>
                    </a:p>
                  </a:txBody>
                  <a:tcPr marL="35110" marR="35110" marT="15516" marB="70221" anchor="ctr"/>
                </a:tc>
                <a:extLst>
                  <a:ext uri="{0D108BD9-81ED-4DB2-BD59-A6C34878D82A}">
                    <a16:rowId xmlns:a16="http://schemas.microsoft.com/office/drawing/2014/main" val="2478216197"/>
                  </a:ext>
                </a:extLst>
              </a:tr>
              <a:tr h="57925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b-NO" sz="1000" b="0" cap="none" spc="0">
                          <a:solidFill>
                            <a:schemeClr val="tx1"/>
                          </a:solidFill>
                          <a:latin typeface="Times New Roman" panose="02020603050405020304" pitchFamily="18" charset="0"/>
                          <a:cs typeface="Times New Roman" panose="02020603050405020304" pitchFamily="18" charset="0"/>
                        </a:rPr>
                        <a:t>Wooseok Seo et al. [5]</a:t>
                      </a:r>
                    </a:p>
                    <a:p>
                      <a:endParaRPr lang="en-US" sz="1000" b="0">
                        <a:solidFill>
                          <a:schemeClr val="tx1"/>
                        </a:solidFill>
                        <a:latin typeface="Times New Roman" panose="02020603050405020304" pitchFamily="18" charset="0"/>
                        <a:cs typeface="Times New Roman" panose="02020603050405020304" pitchFamily="18" charset="0"/>
                      </a:endParaRPr>
                    </a:p>
                  </a:txBody>
                  <a:tcPr marL="77112" marR="77112" marT="38556" marB="38556"/>
                </a:tc>
                <a:tc>
                  <a:txBody>
                    <a:bodyPr/>
                    <a:lstStyle/>
                    <a:p>
                      <a:r>
                        <a:rPr lang="en-US" sz="1000" b="0" cap="none" spc="0">
                          <a:solidFill>
                            <a:schemeClr val="tx1"/>
                          </a:solidFill>
                          <a:latin typeface="Times New Roman" panose="02020603050405020304" pitchFamily="18" charset="0"/>
                          <a:cs typeface="Times New Roman" panose="02020603050405020304" pitchFamily="18" charset="0"/>
                        </a:rPr>
                        <a:t>99.98%</a:t>
                      </a:r>
                    </a:p>
                  </a:txBody>
                  <a:tcPr marL="35110" marR="35110" marT="15516" marB="70221" anchor="ctr"/>
                </a:tc>
                <a:tc>
                  <a:txBody>
                    <a:bodyPr/>
                    <a:lstStyle/>
                    <a:p>
                      <a:r>
                        <a:rPr lang="en-US" sz="1000" cap="none" spc="0">
                          <a:solidFill>
                            <a:schemeClr val="tx1"/>
                          </a:solidFill>
                          <a:latin typeface="Times New Roman" panose="02020603050405020304" pitchFamily="18" charset="0"/>
                          <a:cs typeface="Times New Roman" panose="02020603050405020304" pitchFamily="18" charset="0"/>
                        </a:rPr>
                        <a:t>Real-time network traffic</a:t>
                      </a:r>
                    </a:p>
                  </a:txBody>
                  <a:tcPr marL="35110" marR="35110" marT="15516" marB="70221" anchor="ctr"/>
                </a:tc>
                <a:tc>
                  <a:txBody>
                    <a:bodyPr/>
                    <a:lstStyle/>
                    <a:p>
                      <a:r>
                        <a:rPr lang="en-US" sz="1000" cap="none" spc="0">
                          <a:solidFill>
                            <a:schemeClr val="tx1"/>
                          </a:solidFill>
                          <a:latin typeface="Times New Roman" panose="02020603050405020304" pitchFamily="18" charset="0"/>
                          <a:cs typeface="Times New Roman" panose="02020603050405020304" pitchFamily="18" charset="0"/>
                        </a:rPr>
                        <a:t>High accuracy and real-time detection using session-based AI-IDS.</a:t>
                      </a:r>
                    </a:p>
                  </a:txBody>
                  <a:tcPr marL="35110" marR="35110" marT="15516" marB="70221" anchor="ctr"/>
                </a:tc>
                <a:tc>
                  <a:txBody>
                    <a:bodyPr/>
                    <a:lstStyle/>
                    <a:p>
                      <a:r>
                        <a:rPr lang="en-US" sz="1000" cap="none" spc="0">
                          <a:solidFill>
                            <a:schemeClr val="tx1"/>
                          </a:solidFill>
                          <a:latin typeface="Times New Roman" panose="02020603050405020304" pitchFamily="18" charset="0"/>
                          <a:cs typeface="Times New Roman" panose="02020603050405020304" pitchFamily="18" charset="0"/>
                        </a:rPr>
                        <a:t>High deployment complexity; limited access to proprietary dataset.</a:t>
                      </a:r>
                    </a:p>
                  </a:txBody>
                  <a:tcPr marL="35110" marR="35110" marT="15516" marB="70221" anchor="ctr"/>
                </a:tc>
                <a:extLst>
                  <a:ext uri="{0D108BD9-81ED-4DB2-BD59-A6C34878D82A}">
                    <a16:rowId xmlns:a16="http://schemas.microsoft.com/office/drawing/2014/main" val="3846435363"/>
                  </a:ext>
                </a:extLst>
              </a:tr>
              <a:tr h="57925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00" b="0" cap="none" spc="0">
                          <a:solidFill>
                            <a:schemeClr val="tx1"/>
                          </a:solidFill>
                          <a:latin typeface="Times New Roman" panose="02020603050405020304" pitchFamily="18" charset="0"/>
                          <a:cs typeface="Times New Roman" panose="02020603050405020304" pitchFamily="18" charset="0"/>
                        </a:rPr>
                        <a:t>Ming-Chang Lee et al. [1]</a:t>
                      </a:r>
                    </a:p>
                    <a:p>
                      <a:endParaRPr lang="en-US" sz="1000" b="0">
                        <a:solidFill>
                          <a:schemeClr val="tx1"/>
                        </a:solidFill>
                        <a:latin typeface="Times New Roman" panose="02020603050405020304" pitchFamily="18" charset="0"/>
                        <a:cs typeface="Times New Roman" panose="02020603050405020304" pitchFamily="18" charset="0"/>
                      </a:endParaRPr>
                    </a:p>
                  </a:txBody>
                  <a:tcPr marL="77112" marR="77112" marT="38556" marB="38556"/>
                </a:tc>
                <a:tc>
                  <a:txBody>
                    <a:bodyPr/>
                    <a:lstStyle/>
                    <a:p>
                      <a:r>
                        <a:rPr lang="en-US" sz="1000" b="0" cap="none" spc="0">
                          <a:solidFill>
                            <a:schemeClr val="tx1"/>
                          </a:solidFill>
                          <a:latin typeface="Times New Roman" panose="02020603050405020304" pitchFamily="18" charset="0"/>
                          <a:cs typeface="Times New Roman" panose="02020603050405020304" pitchFamily="18" charset="0"/>
                        </a:rPr>
                        <a:t>99.1%</a:t>
                      </a:r>
                    </a:p>
                  </a:txBody>
                  <a:tcPr marL="35110" marR="35110" marT="15516" marB="70221" anchor="ctr"/>
                </a:tc>
                <a:tc>
                  <a:txBody>
                    <a:bodyPr/>
                    <a:lstStyle/>
                    <a:p>
                      <a:r>
                        <a:rPr lang="en-US" sz="1000" cap="none" spc="0">
                          <a:solidFill>
                            <a:schemeClr val="tx1"/>
                          </a:solidFill>
                          <a:latin typeface="Times New Roman" panose="02020603050405020304" pitchFamily="18" charset="0"/>
                          <a:cs typeface="Times New Roman" panose="02020603050405020304" pitchFamily="18" charset="0"/>
                        </a:rPr>
                        <a:t>Open-source time series</a:t>
                      </a:r>
                    </a:p>
                  </a:txBody>
                  <a:tcPr marL="35110" marR="35110" marT="15516" marB="70221" anchor="ctr"/>
                </a:tc>
                <a:tc>
                  <a:txBody>
                    <a:bodyPr/>
                    <a:lstStyle/>
                    <a:p>
                      <a:r>
                        <a:rPr lang="en-US" sz="1000" cap="none" spc="0">
                          <a:solidFill>
                            <a:schemeClr val="tx1"/>
                          </a:solidFill>
                          <a:latin typeface="Times New Roman" panose="02020603050405020304" pitchFamily="18" charset="0"/>
                          <a:cs typeface="Times New Roman" panose="02020603050405020304" pitchFamily="18" charset="0"/>
                        </a:rPr>
                        <a:t>Effective real-time detection with </a:t>
                      </a:r>
                      <a:r>
                        <a:rPr lang="en-US" sz="1000" b="1" cap="none" spc="0">
                          <a:solidFill>
                            <a:schemeClr val="tx1"/>
                          </a:solidFill>
                          <a:latin typeface="Times New Roman" panose="02020603050405020304" pitchFamily="18" charset="0"/>
                          <a:cs typeface="Times New Roman" panose="02020603050405020304" pitchFamily="18" charset="0"/>
                        </a:rPr>
                        <a:t>LSTM</a:t>
                      </a:r>
                      <a:r>
                        <a:rPr lang="en-US" sz="1000" cap="none" spc="0">
                          <a:solidFill>
                            <a:schemeClr val="tx1"/>
                          </a:solidFill>
                          <a:latin typeface="Times New Roman" panose="02020603050405020304" pitchFamily="18" charset="0"/>
                          <a:cs typeface="Times New Roman" panose="02020603050405020304" pitchFamily="18" charset="0"/>
                        </a:rPr>
                        <a:t> in PyTorch framework.</a:t>
                      </a:r>
                    </a:p>
                  </a:txBody>
                  <a:tcPr marL="35110" marR="35110" marT="15516" marB="70221" anchor="ctr"/>
                </a:tc>
                <a:tc>
                  <a:txBody>
                    <a:bodyPr/>
                    <a:lstStyle/>
                    <a:p>
                      <a:r>
                        <a:rPr lang="en-US" sz="1000" cap="none" spc="0">
                          <a:solidFill>
                            <a:schemeClr val="tx1"/>
                          </a:solidFill>
                          <a:latin typeface="Times New Roman" panose="02020603050405020304" pitchFamily="18" charset="0"/>
                          <a:cs typeface="Times New Roman" panose="02020603050405020304" pitchFamily="18" charset="0"/>
                        </a:rPr>
                        <a:t>Performance varies by framework; not focused on phishing use cases.</a:t>
                      </a:r>
                    </a:p>
                  </a:txBody>
                  <a:tcPr marL="35110" marR="35110" marT="15516" marB="70221" anchor="ctr"/>
                </a:tc>
                <a:extLst>
                  <a:ext uri="{0D108BD9-81ED-4DB2-BD59-A6C34878D82A}">
                    <a16:rowId xmlns:a16="http://schemas.microsoft.com/office/drawing/2014/main" val="369544507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Problem Statement</a:t>
            </a:r>
          </a:p>
        </p:txBody>
      </p:sp>
      <p:graphicFrame>
        <p:nvGraphicFramePr>
          <p:cNvPr id="5" name="Content Placeholder 2">
            <a:extLst>
              <a:ext uri="{FF2B5EF4-FFF2-40B4-BE49-F238E27FC236}">
                <a16:creationId xmlns:a16="http://schemas.microsoft.com/office/drawing/2014/main" id="{02702D92-A39A-62B6-690C-29E13BB62677}"/>
              </a:ext>
            </a:extLst>
          </p:cNvPr>
          <p:cNvGraphicFramePr>
            <a:graphicFrameLocks noGrp="1"/>
          </p:cNvGraphicFramePr>
          <p:nvPr>
            <p:ph idx="1"/>
            <p:extLst>
              <p:ext uri="{D42A27DB-BD31-4B8C-83A1-F6EECF244321}">
                <p14:modId xmlns:p14="http://schemas.microsoft.com/office/powerpoint/2010/main" val="507972492"/>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893749-FF47-98FF-AA3F-0D07973382FE}"/>
              </a:ext>
            </a:extLst>
          </p:cNvPr>
          <p:cNvSpPr>
            <a:spLocks noGrp="1"/>
          </p:cNvSpPr>
          <p:nvPr>
            <p:ph type="title"/>
          </p:nvPr>
        </p:nvSpPr>
        <p:spPr>
          <a:xfrm>
            <a:off x="1032756" y="916226"/>
            <a:ext cx="6056111" cy="1618489"/>
          </a:xfrm>
        </p:spPr>
        <p:txBody>
          <a:bodyPr anchor="ctr">
            <a:normAutofit/>
          </a:bodyPr>
          <a:lstStyle/>
          <a:p>
            <a:pPr>
              <a:lnSpc>
                <a:spcPct val="90000"/>
              </a:lnSpc>
            </a:pPr>
            <a:r>
              <a:rPr lang="en-US" b="1" kern="1200" dirty="0">
                <a:latin typeface="Times New Roman" panose="02020603050405020304" pitchFamily="18" charset="0"/>
                <a:cs typeface="Times New Roman" panose="02020603050405020304" pitchFamily="18" charset="0"/>
              </a:rPr>
              <a:t>Feasibility Study</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384DB7C-19C6-03DD-DC79-B100CDC2B45C}"/>
              </a:ext>
            </a:extLst>
          </p:cNvPr>
          <p:cNvSpPr>
            <a:spLocks noGrp="1"/>
          </p:cNvSpPr>
          <p:nvPr>
            <p:ph idx="1"/>
          </p:nvPr>
        </p:nvSpPr>
        <p:spPr>
          <a:xfrm>
            <a:off x="963930" y="2969469"/>
            <a:ext cx="6056111" cy="2800395"/>
          </a:xfrm>
        </p:spPr>
        <p:txBody>
          <a:bodyPr anchor="t">
            <a:normAutofit/>
          </a:bodyPr>
          <a:lstStyle/>
          <a:p>
            <a:pPr>
              <a:lnSpc>
                <a:spcPct val="90000"/>
              </a:lnSpc>
            </a:pPr>
            <a:r>
              <a:rPr lang="en-US" sz="1800" b="1" dirty="0">
                <a:latin typeface="Times New Roman" panose="02020603050405020304" pitchFamily="18" charset="0"/>
                <a:cs typeface="Times New Roman" panose="02020603050405020304" pitchFamily="18" charset="0"/>
              </a:rPr>
              <a:t>Technical Feasibility</a:t>
            </a:r>
          </a:p>
          <a:p>
            <a:pPr marL="0" indent="0">
              <a:lnSpc>
                <a:spcPct val="90000"/>
              </a:lnSpc>
              <a:buNone/>
            </a:pPr>
            <a:r>
              <a:rPr lang="en-US" sz="1800" dirty="0">
                <a:latin typeface="Times New Roman" panose="02020603050405020304" pitchFamily="18" charset="0"/>
                <a:cs typeface="Times New Roman" panose="02020603050405020304" pitchFamily="18" charset="0"/>
              </a:rPr>
              <a:t>Machine Learning Integration: The system employs real-time anomaly detection and QR-based phishing analysis, leveraging advanced machine learning models for accurate threat detection.</a:t>
            </a:r>
          </a:p>
          <a:p>
            <a:pPr>
              <a:lnSpc>
                <a:spcPct val="90000"/>
              </a:lnSpc>
            </a:pPr>
            <a:r>
              <a:rPr lang="en-US" sz="1800" b="1" dirty="0">
                <a:latin typeface="Times New Roman" panose="02020603050405020304" pitchFamily="18" charset="0"/>
                <a:cs typeface="Times New Roman" panose="02020603050405020304" pitchFamily="18" charset="0"/>
              </a:rPr>
              <a:t>Operational Feasibility</a:t>
            </a:r>
            <a:endParaRPr lang="en-US" sz="1800" dirty="0">
              <a:latin typeface="Times New Roman" panose="02020603050405020304" pitchFamily="18" charset="0"/>
              <a:cs typeface="Times New Roman" panose="02020603050405020304" pitchFamily="18" charset="0"/>
            </a:endParaRPr>
          </a:p>
          <a:p>
            <a:pPr marL="0" indent="0">
              <a:lnSpc>
                <a:spcPct val="90000"/>
              </a:lnSpc>
              <a:buNone/>
            </a:pPr>
            <a:r>
              <a:rPr lang="en-US" sz="1800" dirty="0">
                <a:latin typeface="Times New Roman" panose="02020603050405020304" pitchFamily="18" charset="0"/>
                <a:cs typeface="Times New Roman" panose="02020603050405020304" pitchFamily="18" charset="0"/>
              </a:rPr>
              <a:t>Efficient Threat Detection: Provides alerts mechanisms.</a:t>
            </a:r>
          </a:p>
          <a:p>
            <a:pPr marL="0" indent="0">
              <a:lnSpc>
                <a:spcPct val="90000"/>
              </a:lnSpc>
              <a:buNone/>
            </a:pPr>
            <a:r>
              <a:rPr lang="en-US" sz="1800" dirty="0">
                <a:latin typeface="Times New Roman" panose="02020603050405020304" pitchFamily="18" charset="0"/>
                <a:cs typeface="Times New Roman" panose="02020603050405020304" pitchFamily="18" charset="0"/>
              </a:rPr>
              <a:t>Minimal Maintenance: Requires periodic model updates but does not heavily depend on manual oversight.</a:t>
            </a:r>
          </a:p>
          <a:p>
            <a:pPr marL="0" indent="0">
              <a:lnSpc>
                <a:spcPct val="90000"/>
              </a:lnSpc>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2801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AAE682-B06F-8D2A-D73E-C77C0CC83829}"/>
              </a:ext>
            </a:extLst>
          </p:cNvPr>
          <p:cNvSpPr>
            <a:spLocks noGrp="1"/>
          </p:cNvSpPr>
          <p:nvPr>
            <p:ph type="title"/>
          </p:nvPr>
        </p:nvSpPr>
        <p:spPr>
          <a:xfrm>
            <a:off x="806825" y="1188637"/>
            <a:ext cx="2241175" cy="4480726"/>
          </a:xfrm>
        </p:spPr>
        <p:txBody>
          <a:bodyPr>
            <a:normAutofit/>
          </a:bodyPr>
          <a:lstStyle/>
          <a:p>
            <a:r>
              <a:rPr lang="en-US" sz="3100" b="1" kern="1200" dirty="0">
                <a:latin typeface="+mj-lt"/>
                <a:ea typeface="+mj-ea"/>
                <a:cs typeface="+mj-cs"/>
              </a:rPr>
              <a:t>Feasibility Study Continue</a:t>
            </a:r>
            <a:r>
              <a:rPr lang="en-US" sz="3100" b="1" dirty="0"/>
              <a:t>d…</a:t>
            </a:r>
            <a:endParaRPr lang="en-US" sz="3100" dirty="0"/>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8237B83-5D36-C35E-7BF8-785AD5FC8AFA}"/>
              </a:ext>
            </a:extLst>
          </p:cNvPr>
          <p:cNvSpPr>
            <a:spLocks noGrp="1"/>
          </p:cNvSpPr>
          <p:nvPr>
            <p:ph idx="1"/>
          </p:nvPr>
        </p:nvSpPr>
        <p:spPr>
          <a:xfrm>
            <a:off x="3941444" y="1648870"/>
            <a:ext cx="3767019" cy="3560260"/>
          </a:xfrm>
        </p:spPr>
        <p:txBody>
          <a:bodyPr anchor="ctr">
            <a:normAutofit/>
          </a:bodyPr>
          <a:lstStyle/>
          <a:p>
            <a:pPr>
              <a:lnSpc>
                <a:spcPct val="90000"/>
              </a:lnSpc>
            </a:pPr>
            <a:r>
              <a:rPr lang="en-US" sz="2100" b="1" dirty="0">
                <a:latin typeface="Times New Roman" panose="02020603050405020304" pitchFamily="18" charset="0"/>
                <a:cs typeface="Times New Roman" panose="02020603050405020304" pitchFamily="18" charset="0"/>
              </a:rPr>
              <a:t>Economic Feasibility</a:t>
            </a:r>
            <a:endParaRPr lang="en-US" sz="2100" dirty="0">
              <a:latin typeface="Times New Roman" panose="02020603050405020304" pitchFamily="18" charset="0"/>
              <a:cs typeface="Times New Roman" panose="02020603050405020304" pitchFamily="18" charset="0"/>
            </a:endParaRPr>
          </a:p>
          <a:p>
            <a:pPr marL="0" indent="0">
              <a:lnSpc>
                <a:spcPct val="90000"/>
              </a:lnSpc>
              <a:buNone/>
            </a:pPr>
            <a:r>
              <a:rPr lang="en-US" sz="2100" dirty="0">
                <a:latin typeface="Times New Roman" panose="02020603050405020304" pitchFamily="18" charset="0"/>
                <a:cs typeface="Times New Roman" panose="02020603050405020304" pitchFamily="18" charset="0"/>
              </a:rPr>
              <a:t>Cost-Effective Solution: Machine learning-based detection reduces dependency on expensive traditional security tools.</a:t>
            </a:r>
          </a:p>
        </p:txBody>
      </p:sp>
    </p:spTree>
    <p:extLst>
      <p:ext uri="{BB962C8B-B14F-4D97-AF65-F5344CB8AC3E}">
        <p14:creationId xmlns:p14="http://schemas.microsoft.com/office/powerpoint/2010/main" val="314327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08FF4C-CEA3-F859-CB2E-D1BFDAC2507E}"/>
              </a:ext>
            </a:extLst>
          </p:cNvPr>
          <p:cNvSpPr>
            <a:spLocks noGrp="1"/>
          </p:cNvSpPr>
          <p:nvPr>
            <p:ph type="title"/>
          </p:nvPr>
        </p:nvSpPr>
        <p:spPr>
          <a:xfrm>
            <a:off x="963930" y="1050595"/>
            <a:ext cx="6056111" cy="1618489"/>
          </a:xfrm>
        </p:spPr>
        <p:txBody>
          <a:bodyPr anchor="ctr">
            <a:normAutofit/>
          </a:bodyPr>
          <a:lstStyle/>
          <a:p>
            <a:r>
              <a:rPr lang="en-US" sz="5800" dirty="0">
                <a:latin typeface="Times New Roman" panose="02020603050405020304" pitchFamily="18" charset="0"/>
                <a:cs typeface="Times New Roman" panose="02020603050405020304" pitchFamily="18" charset="0"/>
              </a:rPr>
              <a:t>Project Description</a:t>
            </a:r>
          </a:p>
        </p:txBody>
      </p:sp>
      <p:sp>
        <p:nvSpPr>
          <p:cNvPr id="3" name="Content Placeholder 2">
            <a:extLst>
              <a:ext uri="{FF2B5EF4-FFF2-40B4-BE49-F238E27FC236}">
                <a16:creationId xmlns:a16="http://schemas.microsoft.com/office/drawing/2014/main" id="{71FA5639-70B8-510E-B4E2-58C03B3FA79D}"/>
              </a:ext>
            </a:extLst>
          </p:cNvPr>
          <p:cNvSpPr>
            <a:spLocks noGrp="1"/>
          </p:cNvSpPr>
          <p:nvPr>
            <p:ph idx="1"/>
          </p:nvPr>
        </p:nvSpPr>
        <p:spPr>
          <a:xfrm>
            <a:off x="963930" y="2969469"/>
            <a:ext cx="6056111" cy="2800395"/>
          </a:xfrm>
        </p:spPr>
        <p:txBody>
          <a:bodyPr anchor="t">
            <a:normAutofit/>
          </a:bodyPr>
          <a:lstStyle/>
          <a:p>
            <a:pPr marL="0" indent="0">
              <a:buNone/>
            </a:pPr>
            <a:r>
              <a:rPr lang="en-US" sz="2100" dirty="0">
                <a:latin typeface="Times New Roman" panose="02020603050405020304" pitchFamily="18" charset="0"/>
                <a:cs typeface="Times New Roman" panose="02020603050405020304" pitchFamily="18" charset="0"/>
              </a:rPr>
              <a:t>Focuses on enhancing cybersecurity by detecting malicious content in emails in real time. By analyzing embedded QR codes and URLs, the system identifies suspicious or harmful elements that could lead to phishing, malware, or data breaches. This approach helps prevent attacks before they compromise users or networks, making email communication safer and more secure.</a:t>
            </a:r>
          </a:p>
        </p:txBody>
      </p:sp>
    </p:spTree>
    <p:extLst>
      <p:ext uri="{BB962C8B-B14F-4D97-AF65-F5344CB8AC3E}">
        <p14:creationId xmlns:p14="http://schemas.microsoft.com/office/powerpoint/2010/main" val="3001776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Triangle 15">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6825" y="1188637"/>
            <a:ext cx="2241175" cy="4480726"/>
          </a:xfrm>
        </p:spPr>
        <p:txBody>
          <a:bodyPr>
            <a:normAutofit/>
          </a:bodyPr>
          <a:lstStyle/>
          <a:p>
            <a:r>
              <a:rPr lang="en-US" sz="2700" b="1" dirty="0">
                <a:latin typeface="Times New Roman" panose="02020603050405020304" pitchFamily="18" charset="0"/>
                <a:cs typeface="Times New Roman" panose="02020603050405020304" pitchFamily="18" charset="0"/>
              </a:rPr>
              <a:t>NIDS Methodology</a:t>
            </a: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636644" y="1117928"/>
            <a:ext cx="4395721" cy="4220988"/>
          </a:xfrm>
        </p:spPr>
        <p:txBody>
          <a:bodyPr anchor="ctr">
            <a:normAutofit/>
          </a:bodyPr>
          <a:lstStyle/>
          <a:p>
            <a:pPr>
              <a:lnSpc>
                <a:spcPct val="90000"/>
              </a:lnSpc>
            </a:pPr>
            <a:r>
              <a:rPr lang="en-US" sz="1800" b="1" dirty="0">
                <a:latin typeface="Times New Roman" panose="02020603050405020304" pitchFamily="18" charset="0"/>
                <a:cs typeface="Times New Roman" panose="02020603050405020304" pitchFamily="18" charset="0"/>
              </a:rPr>
              <a:t>Data collection via Python Libraries</a:t>
            </a:r>
          </a:p>
          <a:p>
            <a:pPr marL="0" indent="0">
              <a:lnSpc>
                <a:spcPct val="90000"/>
              </a:lnSpc>
              <a:buNone/>
            </a:pPr>
            <a:r>
              <a:rPr lang="en-US" sz="1800" dirty="0">
                <a:latin typeface="Times New Roman" panose="02020603050405020304" pitchFamily="18" charset="0"/>
                <a:cs typeface="Times New Roman" panose="02020603050405020304" pitchFamily="18" charset="0"/>
              </a:rPr>
              <a:t>	A lightweight Python library runs on 	the local host to monitor and 	extract 	network data in real time. It captures 	email-related QR codes, URLs, and 	metadata without disrupting normal 	system operations.</a:t>
            </a:r>
          </a:p>
          <a:p>
            <a:pPr marL="0" indent="0">
              <a:lnSpc>
                <a:spcPct val="90000"/>
              </a:lnSpc>
              <a:buNone/>
            </a:pPr>
            <a:endParaRPr lang="en-US" sz="1800" dirty="0">
              <a:latin typeface="Times New Roman" panose="02020603050405020304" pitchFamily="18" charset="0"/>
              <a:cs typeface="Times New Roman" panose="02020603050405020304" pitchFamily="18" charset="0"/>
            </a:endParaRPr>
          </a:p>
          <a:p>
            <a:pPr>
              <a:lnSpc>
                <a:spcPct val="90000"/>
              </a:lnSpc>
            </a:pPr>
            <a:r>
              <a:rPr lang="en-US" sz="1800" b="1" dirty="0">
                <a:latin typeface="Times New Roman" panose="02020603050405020304" pitchFamily="18" charset="0"/>
                <a:cs typeface="Times New Roman" panose="02020603050405020304" pitchFamily="18" charset="0"/>
              </a:rPr>
              <a:t>Anomaly detection using Isolation Forest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Isolation Forest algorithm is used to identify unusual patterns in the collected data. It isolates anomalies by recursively partitioning data points, making it efficient for detecting threats.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4026A73-1F7F-49F2-B319-8CA3B3D532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1299" y="321733"/>
            <a:ext cx="8660121"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ight Triangle 11">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057B1D-B4ED-DAC7-1DF7-2ED8E9639CD1}"/>
              </a:ext>
            </a:extLst>
          </p:cNvPr>
          <p:cNvSpPr>
            <a:spLocks noGrp="1"/>
          </p:cNvSpPr>
          <p:nvPr>
            <p:ph type="title"/>
          </p:nvPr>
        </p:nvSpPr>
        <p:spPr>
          <a:xfrm>
            <a:off x="755175" y="1188637"/>
            <a:ext cx="2356072" cy="4480726"/>
          </a:xfrm>
        </p:spPr>
        <p:txBody>
          <a:bodyPr>
            <a:normAutofit/>
          </a:bodyPr>
          <a:lstStyle/>
          <a:p>
            <a:pPr algn="r"/>
            <a:r>
              <a:rPr lang="en-US" sz="3100" b="1" dirty="0">
                <a:latin typeface="Times New Roman" panose="02020603050405020304" pitchFamily="18" charset="0"/>
                <a:cs typeface="Times New Roman" panose="02020603050405020304" pitchFamily="18" charset="0"/>
              </a:rPr>
              <a:t>Continue..</a:t>
            </a:r>
          </a:p>
        </p:txBody>
      </p:sp>
      <p:cxnSp>
        <p:nvCxnSpPr>
          <p:cNvPr id="16" name="Straight Connector 15">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9CB4137-DB22-C167-FEF2-85728BCEE0F5}"/>
              </a:ext>
            </a:extLst>
          </p:cNvPr>
          <p:cNvSpPr>
            <a:spLocks noGrp="1"/>
          </p:cNvSpPr>
          <p:nvPr>
            <p:ph idx="1"/>
          </p:nvPr>
        </p:nvSpPr>
        <p:spPr>
          <a:xfrm>
            <a:off x="3854196" y="1338729"/>
            <a:ext cx="3596688" cy="4180542"/>
          </a:xfrm>
        </p:spPr>
        <p:txBody>
          <a:bodyPr anchor="ctr">
            <a:normAutofit/>
          </a:bodyPr>
          <a:lstStyle/>
          <a:p>
            <a:r>
              <a:rPr lang="en-US" sz="2100" b="1" dirty="0">
                <a:latin typeface="Times New Roman" panose="02020603050405020304" pitchFamily="18" charset="0"/>
                <a:cs typeface="Times New Roman" panose="02020603050405020304" pitchFamily="18" charset="0"/>
              </a:rPr>
              <a:t>Visualized through interactive dashboards</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Anomalies and metrics are displayed on dynamic dashboards for real-time monitoring. Users can explore data trends, flagged threats, and system status through an intuitive interface.</a:t>
            </a:r>
          </a:p>
        </p:txBody>
      </p:sp>
    </p:spTree>
    <p:extLst>
      <p:ext uri="{BB962C8B-B14F-4D97-AF65-F5344CB8AC3E}">
        <p14:creationId xmlns:p14="http://schemas.microsoft.com/office/powerpoint/2010/main" val="3169264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6825" y="1188637"/>
            <a:ext cx="2241175" cy="4480726"/>
          </a:xfrm>
        </p:spPr>
        <p:txBody>
          <a:bodyPr>
            <a:normAutofit/>
          </a:bodyPr>
          <a:lstStyle/>
          <a:p>
            <a:pPr>
              <a:lnSpc>
                <a:spcPct val="90000"/>
              </a:lnSpc>
            </a:pPr>
            <a:r>
              <a:rPr lang="en-US" sz="2700" b="1" dirty="0">
                <a:latin typeface="Times New Roman" panose="02020603050405020304" pitchFamily="18" charset="0"/>
                <a:cs typeface="Times New Roman" panose="02020603050405020304" pitchFamily="18" charset="0"/>
              </a:rPr>
              <a:t>Phishing Detection Methodology</a:t>
            </a: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54590" y="1529098"/>
            <a:ext cx="4470453" cy="3560260"/>
          </a:xfrm>
        </p:spPr>
        <p:txBody>
          <a:bodyPr anchor="ctr">
            <a:normAutofit lnSpcReduction="10000"/>
          </a:bodyPr>
          <a:lstStyle/>
          <a:p>
            <a:pPr>
              <a:lnSpc>
                <a:spcPct val="90000"/>
              </a:lnSpc>
            </a:pPr>
            <a:r>
              <a:rPr lang="en-US" sz="1800" b="1" dirty="0">
                <a:latin typeface="Times New Roman" panose="02020603050405020304" pitchFamily="18" charset="0"/>
                <a:cs typeface="Times New Roman" panose="02020603050405020304" pitchFamily="18" charset="0"/>
              </a:rPr>
              <a:t>Secure Gmail login and inbox scanning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system uses OAuth 2.0 for secure and authorized Gmail access without compromising user credentials. It scans the inbox to retrieve email content for analysis.</a:t>
            </a:r>
          </a:p>
          <a:p>
            <a:pPr marL="0" indent="0">
              <a:lnSpc>
                <a:spcPct val="90000"/>
              </a:lnSpc>
              <a:buNone/>
            </a:pPr>
            <a:endParaRPr lang="en-US" sz="1800" dirty="0">
              <a:latin typeface="Times New Roman" panose="02020603050405020304" pitchFamily="18" charset="0"/>
              <a:cs typeface="Times New Roman" panose="02020603050405020304" pitchFamily="18" charset="0"/>
            </a:endParaRPr>
          </a:p>
          <a:p>
            <a:pPr>
              <a:lnSpc>
                <a:spcPct val="90000"/>
              </a:lnSpc>
            </a:pPr>
            <a:r>
              <a:rPr lang="en-US" sz="1800" b="1" dirty="0">
                <a:latin typeface="Times New Roman" panose="02020603050405020304" pitchFamily="18" charset="0"/>
                <a:cs typeface="Times New Roman" panose="02020603050405020304" pitchFamily="18" charset="0"/>
              </a:rPr>
              <a:t>Extracts URLs and QR codes from emails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Embedded URLs and QR codes are automatically parsed from email bodies and attachments. These elements are key vectors for phishing and malware, making them critical to analyze.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D44EDD-CD0B-B447-B6FE-DE5F0102680B}"/>
              </a:ext>
            </a:extLst>
          </p:cNvPr>
          <p:cNvSpPr>
            <a:spLocks noGrp="1"/>
          </p:cNvSpPr>
          <p:nvPr>
            <p:ph type="title"/>
          </p:nvPr>
        </p:nvSpPr>
        <p:spPr>
          <a:xfrm>
            <a:off x="806825" y="1188637"/>
            <a:ext cx="2241175" cy="4480726"/>
          </a:xfrm>
        </p:spPr>
        <p:txBody>
          <a:bodyPr>
            <a:normAutofit/>
          </a:bodyPr>
          <a:lstStyle/>
          <a:p>
            <a:pPr algn="r"/>
            <a:r>
              <a:rPr lang="en-US" sz="3600" b="1">
                <a:latin typeface="Times New Roman" panose="02020603050405020304" pitchFamily="18" charset="0"/>
                <a:cs typeface="Times New Roman" panose="02020603050405020304" pitchFamily="18" charset="0"/>
              </a:rPr>
              <a:t>Continue..</a:t>
            </a: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1E3929E-D4F1-4F7D-FB63-44A065FB6E9A}"/>
              </a:ext>
            </a:extLst>
          </p:cNvPr>
          <p:cNvSpPr>
            <a:spLocks noGrp="1"/>
          </p:cNvSpPr>
          <p:nvPr>
            <p:ph idx="1"/>
          </p:nvPr>
        </p:nvSpPr>
        <p:spPr>
          <a:xfrm>
            <a:off x="3941445" y="1648870"/>
            <a:ext cx="3527136" cy="3560260"/>
          </a:xfrm>
        </p:spPr>
        <p:txBody>
          <a:bodyPr anchor="ctr">
            <a:normAutofit/>
          </a:bodyPr>
          <a:lstStyle/>
          <a:p>
            <a:r>
              <a:rPr lang="en-US" sz="2100" b="1">
                <a:latin typeface="Times New Roman" panose="02020603050405020304" pitchFamily="18" charset="0"/>
                <a:cs typeface="Times New Roman" panose="02020603050405020304" pitchFamily="18" charset="0"/>
              </a:rPr>
              <a:t>Classifies using ML/DL models</a:t>
            </a:r>
            <a:br>
              <a:rPr lang="en-US" sz="2100">
                <a:latin typeface="Times New Roman" panose="02020603050405020304" pitchFamily="18" charset="0"/>
                <a:cs typeface="Times New Roman" panose="02020603050405020304" pitchFamily="18" charset="0"/>
              </a:rPr>
            </a:br>
            <a:r>
              <a:rPr lang="en-US" sz="2100">
                <a:latin typeface="Times New Roman" panose="02020603050405020304" pitchFamily="18" charset="0"/>
                <a:cs typeface="Times New Roman" panose="02020603050405020304" pitchFamily="18" charset="0"/>
              </a:rPr>
              <a:t>Machine learning and deep learning models are used to classify email content as benign or malicious. Each model brings unique strengths in analyzing sequences, patterns, and features. </a:t>
            </a:r>
          </a:p>
        </p:txBody>
      </p:sp>
    </p:spTree>
    <p:extLst>
      <p:ext uri="{BB962C8B-B14F-4D97-AF65-F5344CB8AC3E}">
        <p14:creationId xmlns:p14="http://schemas.microsoft.com/office/powerpoint/2010/main" val="3020573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00E0F77-E936-4985-B7B1-B9823486AC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88416" y="4883544"/>
            <a:ext cx="2907065" cy="1556907"/>
          </a:xfrm>
        </p:spPr>
        <p:txBody>
          <a:bodyPr vert="horz" lIns="91440" tIns="45720" rIns="91440" bIns="45720" rtlCol="0" anchor="ctr">
            <a:normAutofit/>
          </a:bodyPr>
          <a:lstStyle/>
          <a:p>
            <a:pPr defTabSz="914400">
              <a:lnSpc>
                <a:spcPct val="90000"/>
              </a:lnSpc>
            </a:pPr>
            <a:r>
              <a:rPr lang="en-US" sz="2800" b="1" kern="1200" dirty="0">
                <a:solidFill>
                  <a:schemeClr val="tx1"/>
                </a:solidFill>
                <a:latin typeface="Times New Roman" panose="02020603050405020304" pitchFamily="18" charset="0"/>
                <a:cs typeface="Times New Roman" panose="02020603050405020304" pitchFamily="18" charset="0"/>
              </a:rPr>
              <a:t>Project Description: Deployment</a:t>
            </a:r>
          </a:p>
        </p:txBody>
      </p:sp>
      <p:sp>
        <p:nvSpPr>
          <p:cNvPr id="15" name="Rectangle 14">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8416" y="0"/>
            <a:ext cx="8423809"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10;&#10;AI-generated content may be incorrect.">
            <a:extLst>
              <a:ext uri="{FF2B5EF4-FFF2-40B4-BE49-F238E27FC236}">
                <a16:creationId xmlns:a16="http://schemas.microsoft.com/office/drawing/2014/main" id="{7A2B3AC9-646E-2393-DDF5-7E3039CBA6E5}"/>
              </a:ext>
            </a:extLst>
          </p:cNvPr>
          <p:cNvPicPr>
            <a:picLocks noGrp="1" noChangeAspect="1"/>
          </p:cNvPicPr>
          <p:nvPr>
            <p:ph sz="half" idx="2"/>
          </p:nvPr>
        </p:nvPicPr>
        <p:blipFill>
          <a:blip r:embed="rId2"/>
          <a:stretch>
            <a:fillRect/>
          </a:stretch>
        </p:blipFill>
        <p:spPr>
          <a:xfrm>
            <a:off x="719403" y="451045"/>
            <a:ext cx="7777234" cy="3694186"/>
          </a:xfrm>
          <a:prstGeom prst="rect">
            <a:avLst/>
          </a:prstGeom>
        </p:spPr>
      </p:pic>
      <p:sp>
        <p:nvSpPr>
          <p:cNvPr id="19" name="Rectangle 18">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817950" y="5666847"/>
            <a:ext cx="1463040" cy="3428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BB1BAC40-316A-A32A-F0A1-8E5B0613BAAD}"/>
              </a:ext>
            </a:extLst>
          </p:cNvPr>
          <p:cNvSpPr>
            <a:spLocks noGrp="1"/>
          </p:cNvSpPr>
          <p:nvPr>
            <p:ph sz="quarter" idx="4"/>
          </p:nvPr>
        </p:nvSpPr>
        <p:spPr>
          <a:xfrm>
            <a:off x="3872039" y="4883544"/>
            <a:ext cx="4940186" cy="1556907"/>
          </a:xfrm>
        </p:spPr>
        <p:txBody>
          <a:bodyPr vert="horz" lIns="91440" tIns="45720" rIns="91440" bIns="45720" rtlCol="0" anchor="ctr">
            <a:normAutofit/>
          </a:bodyPr>
          <a:lstStyle/>
          <a:p>
            <a:pPr marL="0" indent="-228600" algn="ctr" defTabSz="914400">
              <a:lnSpc>
                <a:spcPct val="9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image shows our dashboard where you can choose between NIDS and Phishing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FEAE179-C525-48F3-AD47-0E9E2B6F2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8416" y="0"/>
            <a:ext cx="8423809"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descr="A screenshot of a computer&#10;&#10;AI-generated content may be incorrect.">
            <a:extLst>
              <a:ext uri="{FF2B5EF4-FFF2-40B4-BE49-F238E27FC236}">
                <a16:creationId xmlns:a16="http://schemas.microsoft.com/office/drawing/2014/main" id="{F6C67B36-496F-1795-66FE-DEEA99EF6B4A}"/>
              </a:ext>
            </a:extLst>
          </p:cNvPr>
          <p:cNvPicPr>
            <a:picLocks noGrp="1" noChangeAspect="1"/>
          </p:cNvPicPr>
          <p:nvPr>
            <p:ph sz="half" idx="2"/>
          </p:nvPr>
        </p:nvPicPr>
        <p:blipFill>
          <a:blip r:embed="rId2"/>
          <a:srcRect t="1277" b="4883"/>
          <a:stretch/>
        </p:blipFill>
        <p:spPr>
          <a:xfrm>
            <a:off x="719403" y="364142"/>
            <a:ext cx="7777234" cy="3867993"/>
          </a:xfrm>
          <a:prstGeom prst="rect">
            <a:avLst/>
          </a:prstGeom>
        </p:spPr>
      </p:pic>
      <p:sp>
        <p:nvSpPr>
          <p:cNvPr id="19" name="Rectangle 18">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817950" y="5666847"/>
            <a:ext cx="1463040" cy="3428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1E202684-1B26-0CB0-254A-5C231C092EEF}"/>
              </a:ext>
            </a:extLst>
          </p:cNvPr>
          <p:cNvSpPr>
            <a:spLocks noGrp="1"/>
          </p:cNvSpPr>
          <p:nvPr>
            <p:ph sz="quarter" idx="4"/>
          </p:nvPr>
        </p:nvSpPr>
        <p:spPr>
          <a:xfrm>
            <a:off x="3872039" y="4883544"/>
            <a:ext cx="4940186" cy="1556907"/>
          </a:xfrm>
        </p:spPr>
        <p:txBody>
          <a:bodyPr vert="horz" lIns="91440" tIns="45720" rIns="91440" bIns="45720" rtlCol="0" anchor="ctr">
            <a:normAutofit/>
          </a:bodyPr>
          <a:lstStyle/>
          <a:p>
            <a:pPr marL="0" indent="-228600" defTabSz="914400">
              <a:lnSpc>
                <a:spcPct val="9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image shows our NIDS working where you can see your network statics and can simulate the attack.</a:t>
            </a:r>
          </a:p>
        </p:txBody>
      </p:sp>
    </p:spTree>
    <p:extLst>
      <p:ext uri="{BB962C8B-B14F-4D97-AF65-F5344CB8AC3E}">
        <p14:creationId xmlns:p14="http://schemas.microsoft.com/office/powerpoint/2010/main" val="1155853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0AED851-54B9-4765-92D2-F0BE443BE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41AF5F90-8EDC-9A83-3819-DD49606DBDA8}"/>
              </a:ext>
            </a:extLst>
          </p:cNvPr>
          <p:cNvSpPr>
            <a:spLocks noGrp="1"/>
          </p:cNvSpPr>
          <p:nvPr>
            <p:ph sz="quarter" idx="4"/>
          </p:nvPr>
        </p:nvSpPr>
        <p:spPr>
          <a:xfrm>
            <a:off x="5281393" y="953037"/>
            <a:ext cx="3027250" cy="1709849"/>
          </a:xfrm>
        </p:spPr>
        <p:txBody>
          <a:bodyPr vert="horz" lIns="91440" tIns="45720" rIns="91440" bIns="45720" rtlCol="0" anchor="b">
            <a:normAutofit/>
          </a:bodyPr>
          <a:lstStyle/>
          <a:p>
            <a:pPr marL="0" indent="0" defTabSz="914400">
              <a:lnSpc>
                <a:spcPct val="90000"/>
              </a:lnSpc>
              <a:spcBef>
                <a:spcPts val="1000"/>
              </a:spcBef>
              <a:buNone/>
            </a:pPr>
            <a:r>
              <a:rPr lang="en-US" sz="2000" kern="1200" dirty="0">
                <a:solidFill>
                  <a:schemeClr val="tx1"/>
                </a:solidFill>
                <a:latin typeface="Times New Roman" panose="02020603050405020304" pitchFamily="18" charset="0"/>
                <a:cs typeface="Times New Roman" panose="02020603050405020304" pitchFamily="18" charset="0"/>
              </a:rPr>
              <a:t>In this image as you can see our model can detect the dos attack.</a:t>
            </a:r>
          </a:p>
        </p:txBody>
      </p:sp>
      <p:sp>
        <p:nvSpPr>
          <p:cNvPr id="15" name="Rectangle 14">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120747"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2618" y="391886"/>
            <a:ext cx="4507024"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descr="A screenshot of a computer&#10;&#10;AI-generated content may be incorrect.">
            <a:extLst>
              <a:ext uri="{FF2B5EF4-FFF2-40B4-BE49-F238E27FC236}">
                <a16:creationId xmlns:a16="http://schemas.microsoft.com/office/drawing/2014/main" id="{453EA003-BCF8-C35E-6FA4-79E46919795B}"/>
              </a:ext>
            </a:extLst>
          </p:cNvPr>
          <p:cNvPicPr>
            <a:picLocks noGrp="1" noChangeAspect="1"/>
          </p:cNvPicPr>
          <p:nvPr>
            <p:ph sz="half" idx="2"/>
          </p:nvPr>
        </p:nvPicPr>
        <p:blipFill>
          <a:blip r:embed="rId2"/>
          <a:srcRect l="40652" t="32163" r="40051" b="27318"/>
          <a:stretch/>
        </p:blipFill>
        <p:spPr>
          <a:xfrm>
            <a:off x="550130" y="947631"/>
            <a:ext cx="4152001" cy="4903984"/>
          </a:xfrm>
          <a:prstGeom prst="rect">
            <a:avLst/>
          </a:prstGeom>
          <a:ln>
            <a:solidFill>
              <a:schemeClr val="tx1"/>
            </a:solidFill>
          </a:ln>
        </p:spPr>
      </p:pic>
      <p:grpSp>
        <p:nvGrpSpPr>
          <p:cNvPr id="19" name="Group 18">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5358" y="2984992"/>
            <a:ext cx="548639" cy="673460"/>
            <a:chOff x="3940602" y="308034"/>
            <a:chExt cx="2116791" cy="3428999"/>
          </a:xfrm>
          <a:solidFill>
            <a:schemeClr val="accent4"/>
          </a:solidFill>
        </p:grpSpPr>
        <p:sp>
          <p:nvSpPr>
            <p:cNvPr id="20" name="Rectangle 19">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36252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00E0F77-E936-4985-B7B1-B9823486AC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8416" y="0"/>
            <a:ext cx="8423809"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descr="A screenshot of a computer&#10;&#10;AI-generated content may be incorrect.">
            <a:extLst>
              <a:ext uri="{FF2B5EF4-FFF2-40B4-BE49-F238E27FC236}">
                <a16:creationId xmlns:a16="http://schemas.microsoft.com/office/drawing/2014/main" id="{7F553D0B-209D-65FA-65C2-737087D8B772}"/>
              </a:ext>
            </a:extLst>
          </p:cNvPr>
          <p:cNvPicPr>
            <a:picLocks noGrp="1" noChangeAspect="1"/>
          </p:cNvPicPr>
          <p:nvPr>
            <p:ph sz="half" idx="2"/>
          </p:nvPr>
        </p:nvPicPr>
        <p:blipFill>
          <a:blip r:embed="rId2"/>
          <a:stretch>
            <a:fillRect/>
          </a:stretch>
        </p:blipFill>
        <p:spPr>
          <a:xfrm>
            <a:off x="719403" y="480210"/>
            <a:ext cx="7777234" cy="3635857"/>
          </a:xfrm>
          <a:prstGeom prst="rect">
            <a:avLst/>
          </a:prstGeom>
        </p:spPr>
      </p:pic>
      <p:sp>
        <p:nvSpPr>
          <p:cNvPr id="19" name="Rectangle 18">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817950" y="5666847"/>
            <a:ext cx="1463040" cy="3428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F60926F9-61F9-05A9-068B-ED596E329518}"/>
              </a:ext>
            </a:extLst>
          </p:cNvPr>
          <p:cNvSpPr>
            <a:spLocks noGrp="1"/>
          </p:cNvSpPr>
          <p:nvPr>
            <p:ph sz="quarter" idx="4"/>
          </p:nvPr>
        </p:nvSpPr>
        <p:spPr>
          <a:xfrm>
            <a:off x="3872039" y="4883544"/>
            <a:ext cx="4940186" cy="1556907"/>
          </a:xfrm>
        </p:spPr>
        <p:txBody>
          <a:bodyPr vert="horz" lIns="91440" tIns="45720" rIns="91440" bIns="45720" rtlCol="0" anchor="ctr">
            <a:normAutofit/>
          </a:bodyPr>
          <a:lstStyle/>
          <a:p>
            <a:pPr marL="0" indent="-228600" defTabSz="914400">
              <a:lnSpc>
                <a:spcPct val="9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image shows the phishing working where you can         extract and scan  the URL from QR and then our model can check whether this URL is safe or not.</a:t>
            </a:r>
          </a:p>
        </p:txBody>
      </p:sp>
    </p:spTree>
    <p:extLst>
      <p:ext uri="{BB962C8B-B14F-4D97-AF65-F5344CB8AC3E}">
        <p14:creationId xmlns:p14="http://schemas.microsoft.com/office/powerpoint/2010/main" val="1252067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0AED851-54B9-4765-92D2-F0BE443BE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5C39D6FD-3D08-8589-7EFD-78E40654F7CF}"/>
              </a:ext>
            </a:extLst>
          </p:cNvPr>
          <p:cNvSpPr>
            <a:spLocks noGrp="1"/>
          </p:cNvSpPr>
          <p:nvPr>
            <p:ph type="body" idx="1"/>
          </p:nvPr>
        </p:nvSpPr>
        <p:spPr>
          <a:xfrm>
            <a:off x="5281393" y="953037"/>
            <a:ext cx="3027250" cy="1709849"/>
          </a:xfrm>
        </p:spPr>
        <p:txBody>
          <a:bodyPr vert="horz" lIns="91440" tIns="45720" rIns="91440" bIns="45720" rtlCol="0" anchor="b">
            <a:normAutofit/>
          </a:bodyPr>
          <a:lstStyle/>
          <a:p>
            <a:pPr defTabSz="914400">
              <a:lnSpc>
                <a:spcPct val="90000"/>
              </a:lnSpc>
              <a:spcBef>
                <a:spcPts val="1000"/>
              </a:spcBef>
            </a:pPr>
            <a:r>
              <a:rPr lang="en-US" sz="2000" b="0" kern="1200" dirty="0">
                <a:solidFill>
                  <a:schemeClr val="tx1"/>
                </a:solidFill>
                <a:latin typeface="Times New Roman" panose="02020603050405020304" pitchFamily="18" charset="0"/>
                <a:cs typeface="Times New Roman" panose="02020603050405020304" pitchFamily="18" charset="0"/>
              </a:rPr>
              <a:t>As you can see in this image, we can extract the URL from QR</a:t>
            </a:r>
          </a:p>
        </p:txBody>
      </p:sp>
      <p:sp>
        <p:nvSpPr>
          <p:cNvPr id="15" name="Rectangle 14">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120747"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2618" y="391886"/>
            <a:ext cx="4507024"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descr="A screenshot of a computer&#10;&#10;AI-generated content may be incorrect.">
            <a:extLst>
              <a:ext uri="{FF2B5EF4-FFF2-40B4-BE49-F238E27FC236}">
                <a16:creationId xmlns:a16="http://schemas.microsoft.com/office/drawing/2014/main" id="{3D8472E1-226C-DE01-42FE-0594CB1F9CD1}"/>
              </a:ext>
            </a:extLst>
          </p:cNvPr>
          <p:cNvPicPr>
            <a:picLocks noGrp="1" noChangeAspect="1"/>
          </p:cNvPicPr>
          <p:nvPr>
            <p:ph sz="half" idx="2"/>
          </p:nvPr>
        </p:nvPicPr>
        <p:blipFill>
          <a:blip r:embed="rId2"/>
          <a:srcRect l="19230" t="16565" r="17496"/>
          <a:stretch/>
        </p:blipFill>
        <p:spPr>
          <a:xfrm>
            <a:off x="835357" y="1807961"/>
            <a:ext cx="4152001" cy="2888039"/>
          </a:xfrm>
          <a:prstGeom prst="rect">
            <a:avLst/>
          </a:prstGeom>
        </p:spPr>
      </p:pic>
      <p:grpSp>
        <p:nvGrpSpPr>
          <p:cNvPr id="19" name="Group 18">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5358" y="2984992"/>
            <a:ext cx="548639" cy="673460"/>
            <a:chOff x="3940602" y="308034"/>
            <a:chExt cx="2116791" cy="3428999"/>
          </a:xfrm>
          <a:solidFill>
            <a:schemeClr val="accent4"/>
          </a:solidFill>
        </p:grpSpPr>
        <p:sp>
          <p:nvSpPr>
            <p:cNvPr id="20" name="Rectangle 19">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46811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B49AD26-DD54-A533-DBB8-185B9C8DC39C}"/>
              </a:ext>
            </a:extLst>
          </p:cNvPr>
          <p:cNvSpPr>
            <a:spLocks noGrp="1"/>
          </p:cNvSpPr>
          <p:nvPr>
            <p:ph type="body" sz="quarter" idx="3"/>
          </p:nvPr>
        </p:nvSpPr>
        <p:spPr>
          <a:xfrm>
            <a:off x="4572000" y="1164500"/>
            <a:ext cx="4041775" cy="504571"/>
          </a:xfrm>
        </p:spPr>
        <p:txBody>
          <a:bodyPr>
            <a:normAutofit fontScale="62500" lnSpcReduction="20000"/>
          </a:bodyPr>
          <a:lstStyle/>
          <a:p>
            <a:r>
              <a:rPr lang="en-US" b="0" dirty="0">
                <a:latin typeface="Times New Roman" panose="02020603050405020304" pitchFamily="18" charset="0"/>
                <a:cs typeface="Times New Roman" panose="02020603050405020304" pitchFamily="18" charset="0"/>
              </a:rPr>
              <a:t>This image shows safe URL (Flagged in </a:t>
            </a:r>
            <a:r>
              <a:rPr lang="en-US" b="0" dirty="0">
                <a:solidFill>
                  <a:srgbClr val="00B050"/>
                </a:solidFill>
                <a:latin typeface="Times New Roman" panose="02020603050405020304" pitchFamily="18" charset="0"/>
                <a:cs typeface="Times New Roman" panose="02020603050405020304" pitchFamily="18" charset="0"/>
              </a:rPr>
              <a:t>Green</a:t>
            </a:r>
            <a:r>
              <a:rPr lang="en-US" b="0" dirty="0">
                <a:latin typeface="Times New Roman" panose="02020603050405020304" pitchFamily="18" charset="0"/>
                <a:cs typeface="Times New Roman" panose="02020603050405020304" pitchFamily="18" charset="0"/>
              </a:rPr>
              <a:t> Color)</a:t>
            </a:r>
          </a:p>
        </p:txBody>
      </p:sp>
      <p:pic>
        <p:nvPicPr>
          <p:cNvPr id="10" name="Content Placeholder 9" descr="A screenshot of a computer&#10;&#10;AI-generated content may be incorrect.">
            <a:extLst>
              <a:ext uri="{FF2B5EF4-FFF2-40B4-BE49-F238E27FC236}">
                <a16:creationId xmlns:a16="http://schemas.microsoft.com/office/drawing/2014/main" id="{18E005BF-F856-B31B-D10E-55D3BB8666B2}"/>
              </a:ext>
            </a:extLst>
          </p:cNvPr>
          <p:cNvPicPr>
            <a:picLocks noGrp="1" noChangeAspect="1"/>
          </p:cNvPicPr>
          <p:nvPr>
            <p:ph sz="quarter" idx="4"/>
          </p:nvPr>
        </p:nvPicPr>
        <p:blipFill>
          <a:blip r:embed="rId2"/>
          <a:srcRect l="27887" t="16253" r="26865"/>
          <a:stretch/>
        </p:blipFill>
        <p:spPr>
          <a:xfrm>
            <a:off x="4572000" y="2130736"/>
            <a:ext cx="4046518" cy="3965301"/>
          </a:xfrm>
        </p:spPr>
      </p:pic>
      <p:sp>
        <p:nvSpPr>
          <p:cNvPr id="9" name="TextBox 8">
            <a:extLst>
              <a:ext uri="{FF2B5EF4-FFF2-40B4-BE49-F238E27FC236}">
                <a16:creationId xmlns:a16="http://schemas.microsoft.com/office/drawing/2014/main" id="{7326587D-5020-5AEE-25EF-DED3A12B700B}"/>
              </a:ext>
            </a:extLst>
          </p:cNvPr>
          <p:cNvSpPr txBox="1"/>
          <p:nvPr/>
        </p:nvSpPr>
        <p:spPr>
          <a:xfrm>
            <a:off x="254378" y="1207406"/>
            <a:ext cx="4046518" cy="923330"/>
          </a:xfrm>
          <a:prstGeom prst="rect">
            <a:avLst/>
          </a:prstGeom>
          <a:noFill/>
        </p:spPr>
        <p:txBody>
          <a:bodyPr wrap="square">
            <a:spAutoFit/>
          </a:bodyPr>
          <a:lstStyle/>
          <a:p>
            <a:r>
              <a:rPr lang="en-US" b="0"/>
              <a:t>This image shows unsafe URL (Flagged in </a:t>
            </a:r>
            <a:r>
              <a:rPr lang="en-US" b="0">
                <a:solidFill>
                  <a:srgbClr val="FF0000"/>
                </a:solidFill>
              </a:rPr>
              <a:t>Red</a:t>
            </a:r>
            <a:r>
              <a:rPr lang="en-US" b="0"/>
              <a:t> Color)</a:t>
            </a:r>
          </a:p>
          <a:p>
            <a:endParaRPr lang="en-US" dirty="0"/>
          </a:p>
        </p:txBody>
      </p:sp>
      <p:pic>
        <p:nvPicPr>
          <p:cNvPr id="11" name="Content Placeholder 7" descr="A screenshot of a computer&#10;&#10;AI-generated content may be incorrect.">
            <a:extLst>
              <a:ext uri="{FF2B5EF4-FFF2-40B4-BE49-F238E27FC236}">
                <a16:creationId xmlns:a16="http://schemas.microsoft.com/office/drawing/2014/main" id="{B8C5F72C-81A5-0A8B-EBF1-2A24F9EF1210}"/>
              </a:ext>
            </a:extLst>
          </p:cNvPr>
          <p:cNvPicPr>
            <a:picLocks noGrp="1" noChangeAspect="1"/>
          </p:cNvPicPr>
          <p:nvPr>
            <p:ph sz="half" idx="2"/>
          </p:nvPr>
        </p:nvPicPr>
        <p:blipFill>
          <a:blip r:embed="rId3"/>
          <a:srcRect l="23104" t="28758" r="20550"/>
          <a:stretch/>
        </p:blipFill>
        <p:spPr>
          <a:xfrm>
            <a:off x="260708" y="2324969"/>
            <a:ext cx="4040188" cy="2707201"/>
          </a:xfrm>
        </p:spPr>
      </p:pic>
    </p:spTree>
    <p:extLst>
      <p:ext uri="{BB962C8B-B14F-4D97-AF65-F5344CB8AC3E}">
        <p14:creationId xmlns:p14="http://schemas.microsoft.com/office/powerpoint/2010/main" val="980871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6825" y="1188637"/>
            <a:ext cx="2241175" cy="4480726"/>
          </a:xfrm>
        </p:spPr>
        <p:txBody>
          <a:bodyPr>
            <a:normAutofit/>
          </a:bodyPr>
          <a:lstStyle/>
          <a:p>
            <a:pPr algn="r"/>
            <a:r>
              <a:rPr lang="en-US" sz="4800" b="1">
                <a:latin typeface="Times New Roman" panose="02020603050405020304" pitchFamily="18" charset="0"/>
                <a:cs typeface="Times New Roman" panose="02020603050405020304" pitchFamily="18" charset="0"/>
              </a:rPr>
              <a:t>Results</a:t>
            </a: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941445" y="1648870"/>
            <a:ext cx="3527136" cy="3560260"/>
          </a:xfrm>
        </p:spPr>
        <p:txBody>
          <a:bodyPr anchor="ctr">
            <a:normAutofit/>
          </a:bodyPr>
          <a:lstStyle/>
          <a:p>
            <a:r>
              <a:rPr lang="en-US" sz="2100" b="1">
                <a:latin typeface="Times New Roman" panose="02020603050405020304" pitchFamily="18" charset="0"/>
                <a:cs typeface="Times New Roman" panose="02020603050405020304" pitchFamily="18" charset="0"/>
              </a:rPr>
              <a:t>NIDS</a:t>
            </a:r>
            <a:r>
              <a:rPr lang="en-US" sz="2100">
                <a:latin typeface="Times New Roman" panose="02020603050405020304" pitchFamily="18" charset="0"/>
                <a:cs typeface="Times New Roman" panose="02020603050405020304" pitchFamily="18" charset="0"/>
              </a:rPr>
              <a:t>: Accurate real-time anomaly detection with minimal false positives.</a:t>
            </a:r>
          </a:p>
          <a:p>
            <a:endParaRPr lang="en-US" sz="2100">
              <a:latin typeface="Times New Roman" panose="02020603050405020304" pitchFamily="18" charset="0"/>
              <a:cs typeface="Times New Roman" panose="02020603050405020304" pitchFamily="18" charset="0"/>
            </a:endParaRPr>
          </a:p>
          <a:p>
            <a:r>
              <a:rPr lang="en-US" sz="2100" b="1">
                <a:latin typeface="Times New Roman" panose="02020603050405020304" pitchFamily="18" charset="0"/>
                <a:cs typeface="Times New Roman" panose="02020603050405020304" pitchFamily="18" charset="0"/>
              </a:rPr>
              <a:t>Phishing</a:t>
            </a:r>
            <a:r>
              <a:rPr lang="en-US" sz="2100">
                <a:latin typeface="Times New Roman" panose="02020603050405020304" pitchFamily="18" charset="0"/>
                <a:cs typeface="Times New Roman" panose="02020603050405020304" pitchFamily="18" charset="0"/>
              </a:rPr>
              <a:t>: Random Forest outperformed others in test accuracy and low false positive rate.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r>
              <a:rPr lang="en-US" sz="6300" b="1">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963930" y="2969469"/>
            <a:ext cx="6056111" cy="2800395"/>
          </a:xfrm>
        </p:spPr>
        <p:txBody>
          <a:bodyPr anchor="t">
            <a:normAutofit/>
          </a:bodyPr>
          <a:lstStyle/>
          <a:p>
            <a:r>
              <a:rPr lang="en-US" sz="2100" dirty="0">
                <a:latin typeface="Times New Roman" panose="02020603050405020304" pitchFamily="18" charset="0"/>
                <a:cs typeface="Times New Roman" panose="02020603050405020304" pitchFamily="18" charset="0"/>
              </a:rPr>
              <a:t>Hybrid architecture enhances threat detection and user interface.</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Reduces false positives and human dependency.</a:t>
            </a:r>
          </a:p>
          <a:p>
            <a:pPr marL="0" indent="0">
              <a:buNone/>
            </a:pPr>
            <a:endParaRPr lang="en-US" sz="2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6825" y="1188637"/>
            <a:ext cx="2241175" cy="4480726"/>
          </a:xfrm>
        </p:spPr>
        <p:txBody>
          <a:bodyPr>
            <a:normAutofit/>
          </a:bodyPr>
          <a:lstStyle/>
          <a:p>
            <a:pPr algn="r"/>
            <a:r>
              <a:rPr lang="en-US" sz="5300" b="1">
                <a:latin typeface="Times New Roman" panose="02020603050405020304" pitchFamily="18" charset="0"/>
                <a:cs typeface="Times New Roman" panose="02020603050405020304" pitchFamily="18" charset="0"/>
              </a:rPr>
              <a:t>Future Work</a:t>
            </a: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941445" y="1648870"/>
            <a:ext cx="3527136" cy="3560260"/>
          </a:xfrm>
        </p:spPr>
        <p:txBody>
          <a:bodyPr anchor="ctr">
            <a:normAutofit/>
          </a:bodyPr>
          <a:lstStyle/>
          <a:p>
            <a:r>
              <a:rPr lang="en-US" sz="2100" dirty="0">
                <a:latin typeface="Times New Roman" panose="02020603050405020304" pitchFamily="18" charset="0"/>
                <a:cs typeface="Times New Roman" panose="02020603050405020304" pitchFamily="18" charset="0"/>
              </a:rPr>
              <a:t>Add active mitigation for DoS and zero-day attacks.</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Improve phishing model accuracy with richer datasets.</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Improve User Interface.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681358-72F8-1689-B3CC-A0FA90AA1009}"/>
              </a:ext>
            </a:extLst>
          </p:cNvPr>
          <p:cNvSpPr>
            <a:spLocks noGrp="1"/>
          </p:cNvSpPr>
          <p:nvPr>
            <p:ph type="title"/>
          </p:nvPr>
        </p:nvSpPr>
        <p:spPr>
          <a:xfrm>
            <a:off x="606478" y="386930"/>
            <a:ext cx="6927525" cy="1188950"/>
          </a:xfrm>
        </p:spPr>
        <p:txBody>
          <a:bodyPr anchor="b">
            <a:normAutofit/>
          </a:bodyPr>
          <a:lstStyle/>
          <a:p>
            <a:r>
              <a:rPr lang="en-US" sz="4700" dirty="0"/>
              <a:t>Reference</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8771274"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FE2108-3C6C-A9E2-4A01-EF4EB521E75D}"/>
              </a:ext>
            </a:extLst>
          </p:cNvPr>
          <p:cNvSpPr>
            <a:spLocks noGrp="1"/>
          </p:cNvSpPr>
          <p:nvPr>
            <p:ph idx="1"/>
          </p:nvPr>
        </p:nvSpPr>
        <p:spPr>
          <a:xfrm>
            <a:off x="553093" y="2300748"/>
            <a:ext cx="7984428" cy="4050175"/>
          </a:xfrm>
        </p:spPr>
        <p:txBody>
          <a:bodyPr anchor="ctr">
            <a:normAutofit lnSpcReduction="10000"/>
          </a:bodyPr>
          <a:lstStyle/>
          <a:p>
            <a:pPr marL="228600" marR="0">
              <a:lnSpc>
                <a:spcPct val="90000"/>
              </a:lnSpc>
              <a:buNone/>
            </a:pP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[1] Lee, M. C., Lin, J. C., &amp; Katsikas, S. (2024, August). Impact of recurrent neural networks and deep learning frameworks on real-time lightweight time series anomaly detection. In </a:t>
            </a:r>
            <a:r>
              <a:rPr lang="en-US" sz="1600" i="1" kern="100" dirty="0">
                <a:effectLst/>
                <a:latin typeface="Times New Roman" panose="02020603050405020304" pitchFamily="18" charset="0"/>
                <a:ea typeface="Times New Roman" panose="02020603050405020304" pitchFamily="18" charset="0"/>
                <a:cs typeface="Times New Roman" panose="02020603050405020304" pitchFamily="18" charset="0"/>
              </a:rPr>
              <a:t>International Conference on Information and Communications Security</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(pp. 228-247). Singapore: Springer Nature Singapore.</a:t>
            </a:r>
            <a:endParaRPr lang="en-US"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228600" marR="0">
              <a:lnSpc>
                <a:spcPct val="90000"/>
              </a:lnSpc>
              <a:buNone/>
            </a:pP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[2] Hui, B., &amp; Chiew, K. L. (2025). An improved network intrusion detection method based on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cnn-lstm-sa</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i="1" kern="100" dirty="0">
                <a:effectLst/>
                <a:latin typeface="Times New Roman" panose="02020603050405020304" pitchFamily="18" charset="0"/>
                <a:ea typeface="Times New Roman" panose="02020603050405020304" pitchFamily="18" charset="0"/>
                <a:cs typeface="Times New Roman" panose="02020603050405020304" pitchFamily="18" charset="0"/>
              </a:rPr>
              <a:t>Journal of Advanced Research in Applied Sciences and Engineering Technology</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i="1" kern="100" dirty="0">
                <a:effectLst/>
                <a:latin typeface="Times New Roman" panose="02020603050405020304" pitchFamily="18" charset="0"/>
                <a:ea typeface="Times New Roman" panose="02020603050405020304" pitchFamily="18" charset="0"/>
                <a:cs typeface="Times New Roman" panose="02020603050405020304" pitchFamily="18" charset="0"/>
              </a:rPr>
              <a:t>44</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(1), 225-238.</a:t>
            </a:r>
          </a:p>
          <a:p>
            <a:pPr marL="228600" marR="0">
              <a:lnSpc>
                <a:spcPct val="90000"/>
              </a:lnSpc>
              <a:buNone/>
            </a:pP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600" kern="100" dirty="0">
                <a:latin typeface="Times New Roman" panose="02020603050405020304" pitchFamily="18" charset="0"/>
                <a:ea typeface="Times New Roman" panose="02020603050405020304" pitchFamily="18" charset="0"/>
                <a:cs typeface="Times New Roman" panose="02020603050405020304" pitchFamily="18" charset="0"/>
              </a:rPr>
              <a:t>3</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Garje</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Tanwani</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N.,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Kandale</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S.,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Zope</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T., &amp; Gore, S. (2021). Detecting phishing websites using machine learning. </a:t>
            </a:r>
            <a:r>
              <a:rPr lang="en-US" sz="1600" i="1" kern="100" dirty="0">
                <a:effectLst/>
                <a:latin typeface="Times New Roman" panose="02020603050405020304" pitchFamily="18" charset="0"/>
                <a:ea typeface="Times New Roman" panose="02020603050405020304" pitchFamily="18" charset="0"/>
                <a:cs typeface="Times New Roman" panose="02020603050405020304" pitchFamily="18" charset="0"/>
              </a:rPr>
              <a:t>International Journal of Creative Research Thoughts</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i="1" kern="100" dirty="0">
                <a:effectLst/>
                <a:latin typeface="Times New Roman" panose="02020603050405020304" pitchFamily="18" charset="0"/>
                <a:ea typeface="Times New Roman" panose="02020603050405020304" pitchFamily="18" charset="0"/>
                <a:cs typeface="Times New Roman" panose="02020603050405020304" pitchFamily="18" charset="0"/>
              </a:rPr>
              <a:t>9</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2320-2882.</a:t>
            </a:r>
            <a:endParaRPr lang="en-US"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228600" marR="0">
              <a:lnSpc>
                <a:spcPct val="90000"/>
              </a:lnSpc>
              <a:buNone/>
            </a:pP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600" kern="100" dirty="0">
                <a:latin typeface="Times New Roman" panose="02020603050405020304" pitchFamily="18" charset="0"/>
                <a:ea typeface="Times New Roman" panose="02020603050405020304" pitchFamily="18" charset="0"/>
                <a:cs typeface="Times New Roman" panose="02020603050405020304" pitchFamily="18" charset="0"/>
              </a:rPr>
              <a:t>4</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Aslam, S., Aslam, H., Manzoor, A., Chen, H., &amp; Rasool, A. (2024).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AntiPhishStack</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LSTM-based stacked generalization model for optimized phishing URL detection. </a:t>
            </a:r>
            <a:r>
              <a:rPr lang="en-US" sz="1600" i="1" kern="100" dirty="0">
                <a:effectLst/>
                <a:latin typeface="Times New Roman" panose="02020603050405020304" pitchFamily="18" charset="0"/>
                <a:ea typeface="Times New Roman" panose="02020603050405020304" pitchFamily="18" charset="0"/>
                <a:cs typeface="Times New Roman" panose="02020603050405020304" pitchFamily="18" charset="0"/>
              </a:rPr>
              <a:t>Symmetry</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i="1" kern="100" dirty="0">
                <a:effectLst/>
                <a:latin typeface="Times New Roman" panose="02020603050405020304" pitchFamily="18" charset="0"/>
                <a:ea typeface="Times New Roman" panose="02020603050405020304" pitchFamily="18" charset="0"/>
                <a:cs typeface="Times New Roman" panose="02020603050405020304" pitchFamily="18" charset="0"/>
              </a:rPr>
              <a:t>16</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(2), 248.</a:t>
            </a:r>
            <a:endParaRPr lang="en-US"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228600" marR="0">
              <a:lnSpc>
                <a:spcPct val="90000"/>
              </a:lnSpc>
              <a:buNone/>
            </a:pP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600" kern="100" dirty="0">
                <a:latin typeface="Times New Roman" panose="02020603050405020304" pitchFamily="18" charset="0"/>
                <a:ea typeface="Times New Roman" panose="02020603050405020304" pitchFamily="18" charset="0"/>
                <a:cs typeface="Times New Roman" panose="02020603050405020304" pitchFamily="18" charset="0"/>
              </a:rPr>
              <a:t>5</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Seo, W., &amp; Pak, W. (2021). Real-time network intrusion prevention system based on hybrid machine learning. </a:t>
            </a:r>
            <a:r>
              <a:rPr lang="en-US" sz="1600" i="1" kern="100" dirty="0">
                <a:effectLst/>
                <a:latin typeface="Times New Roman" panose="02020603050405020304" pitchFamily="18" charset="0"/>
                <a:ea typeface="Times New Roman" panose="02020603050405020304" pitchFamily="18" charset="0"/>
                <a:cs typeface="Times New Roman" panose="02020603050405020304" pitchFamily="18" charset="0"/>
              </a:rPr>
              <a:t>IEEE Access</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i="1" kern="100" dirty="0">
                <a:effectLst/>
                <a:latin typeface="Times New Roman" panose="02020603050405020304" pitchFamily="18" charset="0"/>
                <a:ea typeface="Times New Roman" panose="02020603050405020304" pitchFamily="18" charset="0"/>
                <a:cs typeface="Times New Roman" panose="02020603050405020304" pitchFamily="18" charset="0"/>
              </a:rPr>
              <a:t>9</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46386-46397.</a:t>
            </a:r>
            <a:endParaRPr lang="en-US"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228600" marR="0">
              <a:lnSpc>
                <a:spcPct val="90000"/>
              </a:lnSpc>
              <a:buNone/>
            </a:pP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[6] Zara, U., Ayub, K., Khan, H. U., Daud, A.,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Alsahfi</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T., &amp; Gulzar, S. (2024). Phishing website detection using deep learning models. </a:t>
            </a:r>
            <a:r>
              <a:rPr lang="en-US" sz="1600" i="1" kern="100" dirty="0">
                <a:effectLst/>
                <a:latin typeface="Times New Roman" panose="02020603050405020304" pitchFamily="18" charset="0"/>
                <a:ea typeface="Times New Roman" panose="02020603050405020304" pitchFamily="18" charset="0"/>
                <a:cs typeface="Times New Roman" panose="02020603050405020304" pitchFamily="18" charset="0"/>
              </a:rPr>
              <a:t>IEEE Access</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228600" marR="0">
              <a:lnSpc>
                <a:spcPct val="90000"/>
              </a:lnSpc>
              <a:buNone/>
            </a:pPr>
            <a:endParaRPr lang="en-US" sz="13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90000"/>
              </a:lnSpc>
            </a:pPr>
            <a:endParaRPr lang="en-US" sz="1300" dirty="0"/>
          </a:p>
        </p:txBody>
      </p:sp>
    </p:spTree>
    <p:extLst>
      <p:ext uri="{BB962C8B-B14F-4D97-AF65-F5344CB8AC3E}">
        <p14:creationId xmlns:p14="http://schemas.microsoft.com/office/powerpoint/2010/main" val="4648378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283</TotalTime>
  <Words>1208</Words>
  <Application>Microsoft Office PowerPoint</Application>
  <PresentationFormat>On-screen Show (4:3)</PresentationFormat>
  <Paragraphs>114</Paragraphs>
  <Slides>21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Arial</vt:lpstr>
      <vt:lpstr>Calibri</vt:lpstr>
      <vt:lpstr>Times New Roman</vt:lpstr>
      <vt:lpstr>Office Theme</vt:lpstr>
      <vt:lpstr>Network Security Real Time Anomaly Detection Email QR And URL Analysis</vt:lpstr>
      <vt:lpstr>Introduction</vt:lpstr>
      <vt:lpstr>Related Work</vt:lpstr>
      <vt:lpstr>Problem Statement</vt:lpstr>
      <vt:lpstr>Feasibility Study</vt:lpstr>
      <vt:lpstr>Feasibility Study Continued…</vt:lpstr>
      <vt:lpstr>Project Description</vt:lpstr>
      <vt:lpstr>NIDS Methodology</vt:lpstr>
      <vt:lpstr>Continue..</vt:lpstr>
      <vt:lpstr>Phishing Detection Methodology</vt:lpstr>
      <vt:lpstr>Continue..</vt:lpstr>
      <vt:lpstr>Project Description: Deployment</vt:lpstr>
      <vt:lpstr>PowerPoint Presentation</vt:lpstr>
      <vt:lpstr>PowerPoint Presentation</vt:lpstr>
      <vt:lpstr>PowerPoint Presentation</vt:lpstr>
      <vt:lpstr>PowerPoint Presentation</vt:lpstr>
      <vt:lpstr>PowerPoint Presentation</vt:lpstr>
      <vt:lpstr>Results</vt:lpstr>
      <vt:lpstr>Conclusion</vt:lpstr>
      <vt:lpstr>Future Work</vt:lpstr>
      <vt:lpstr>Reference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AKSHAT KUMAR NAUTIYAL</cp:lastModifiedBy>
  <cp:revision>31</cp:revision>
  <dcterms:created xsi:type="dcterms:W3CDTF">2013-01-27T09:14:16Z</dcterms:created>
  <dcterms:modified xsi:type="dcterms:W3CDTF">2025-05-06T09:13:31Z</dcterms:modified>
  <cp:category/>
</cp:coreProperties>
</file>